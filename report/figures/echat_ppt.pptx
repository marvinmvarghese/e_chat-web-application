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notesSlides/notesSlide1.xml" ContentType="application/vnd.openxmlformats-officedocument.presentationml.notesSlide+xml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GAIT ANALYSIS AND PULL TEST. 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7260" y="6401179"/>
            <a:ext cx="256541" cy="27546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tools.ietf.org/html/rfc6455" TargetMode="External"/><Relationship Id="rId4" Type="http://schemas.openxmlformats.org/officeDocument/2006/relationships/hyperlink" Target="https://tools.ietf.org/html/rfc7519" TargetMode="External"/><Relationship Id="rId5" Type="http://schemas.openxmlformats.org/officeDocument/2006/relationships/hyperlink" Target="https://nextjs.org/docs" TargetMode="External"/><Relationship Id="rId6" Type="http://schemas.openxmlformats.org/officeDocument/2006/relationships/hyperlink" Target="https://fastapi.tiangolo.com/" TargetMode="External"/><Relationship Id="rId7" Type="http://schemas.openxmlformats.org/officeDocument/2006/relationships/hyperlink" Target="https://socket.io/docs" TargetMode="External"/><Relationship Id="rId8" Type="http://schemas.openxmlformats.org/officeDocument/2006/relationships/hyperlink" Target="https://www.postgresql.org/docs/15" TargetMode="External"/><Relationship Id="rId9" Type="http://schemas.openxmlformats.org/officeDocument/2006/relationships/hyperlink" Target="https://vercel.com/docs" TargetMode="External"/><Relationship Id="rId10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1537828" y="1666345"/>
            <a:ext cx="9453510" cy="1044799"/>
          </a:xfrm>
          <a:prstGeom prst="rect">
            <a:avLst/>
          </a:prstGeom>
        </p:spPr>
        <p:txBody>
          <a:bodyPr lIns="0" tIns="0" rIns="0" bIns="0" anchor="t"/>
          <a:lstStyle>
            <a:lvl1pPr defTabSz="539495">
              <a:defRPr spc="-84" sz="3716">
                <a:solidFill>
                  <a:srgbClr val="2F5597"/>
                </a:solidFill>
              </a:defRPr>
            </a:lvl1pPr>
          </a:lstStyle>
          <a:p>
            <a:pPr>
              <a:defRPr spc="0"/>
            </a:pPr>
            <a:r>
              <a:rPr spc="-84"/>
              <a:t>E-CHAT: A REAL-TIME SECURE WEB-BASED CHAT APPLICATION</a:t>
            </a:r>
          </a:p>
        </p:txBody>
      </p:sp>
      <p:sp>
        <p:nvSpPr>
          <p:cNvPr id="95" name="object 10"/>
          <p:cNvSpPr txBox="1"/>
          <p:nvPr/>
        </p:nvSpPr>
        <p:spPr>
          <a:xfrm>
            <a:off x="917575" y="6451048"/>
            <a:ext cx="777739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10" sz="1200">
                <a:solidFill>
                  <a:srgbClr val="888888"/>
                </a:solidFill>
              </a:defRPr>
            </a:lvl1pPr>
          </a:lstStyle>
          <a:p>
            <a:pPr/>
            <a:r>
              <a:t>06/04/2026</a:t>
            </a:r>
          </a:p>
        </p:txBody>
      </p:sp>
      <p:sp>
        <p:nvSpPr>
          <p:cNvPr id="96" name="object 3"/>
          <p:cNvSpPr txBox="1"/>
          <p:nvPr/>
        </p:nvSpPr>
        <p:spPr>
          <a:xfrm>
            <a:off x="1143951" y="3856671"/>
            <a:ext cx="2073912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>
                <a:solidFill>
                  <a:srgbClr val="C55A11"/>
                </a:solidFill>
              </a:defRPr>
            </a:pPr>
            <a:r>
              <a:t>Presented</a:t>
            </a:r>
            <a:r>
              <a:rPr spc="-30"/>
              <a:t> </a:t>
            </a:r>
            <a:r>
              <a:t>by:</a:t>
            </a:r>
            <a:r>
              <a:rPr spc="-15"/>
              <a:t> </a:t>
            </a:r>
            <a:r>
              <a:t>Group</a:t>
            </a:r>
            <a:r>
              <a:rPr spc="-25"/>
              <a:t> </a:t>
            </a:r>
            <a:r>
              <a:rPr spc="-50"/>
              <a:t>5</a:t>
            </a:r>
          </a:p>
        </p:txBody>
      </p:sp>
      <p:sp>
        <p:nvSpPr>
          <p:cNvPr id="97" name="object 4"/>
          <p:cNvSpPr txBox="1"/>
          <p:nvPr/>
        </p:nvSpPr>
        <p:spPr>
          <a:xfrm>
            <a:off x="1143952" y="4219257"/>
            <a:ext cx="4328160" cy="1450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98450" indent="-285750">
              <a:spcBef>
                <a:spcPts val="1100"/>
              </a:spcBef>
              <a:buSzPct val="100000"/>
              <a:buFont typeface="Arial"/>
              <a:buChar char="•"/>
              <a:tabLst>
                <a:tab pos="292100" algn="l"/>
              </a:tabLst>
              <a:defRPr>
                <a:solidFill>
                  <a:srgbClr val="C00000"/>
                </a:solidFill>
              </a:defRPr>
            </a:pPr>
            <a:r>
              <a:t>Marvin</a:t>
            </a:r>
            <a:r>
              <a:rPr spc="-25"/>
              <a:t> </a:t>
            </a:r>
            <a:r>
              <a:t>M</a:t>
            </a:r>
            <a:r>
              <a:rPr spc="-40"/>
              <a:t> </a:t>
            </a:r>
            <a:r>
              <a:rPr spc="-30"/>
              <a:t>Varghese</a:t>
            </a:r>
            <a:r>
              <a:rPr spc="5"/>
              <a:t> </a:t>
            </a:r>
            <a:r>
              <a:t>(TKI23CS064</a:t>
            </a:r>
            <a:r>
              <a:rPr spc="-10"/>
              <a:t> </a:t>
            </a:r>
            <a:r>
              <a:t>&amp;</a:t>
            </a:r>
            <a:r>
              <a:rPr spc="5"/>
              <a:t> </a:t>
            </a:r>
            <a:r>
              <a:rPr spc="-10"/>
              <a:t>6332)</a:t>
            </a:r>
          </a:p>
          <a:p>
            <a:pPr marL="298450" indent="-285750">
              <a:spcBef>
                <a:spcPts val="1000"/>
              </a:spcBef>
              <a:buSzPct val="100000"/>
              <a:buFont typeface="Arial"/>
              <a:buChar char="•"/>
              <a:tabLst>
                <a:tab pos="292100" algn="l"/>
              </a:tabLst>
              <a:defRPr>
                <a:solidFill>
                  <a:srgbClr val="C00000"/>
                </a:solidFill>
              </a:defRPr>
            </a:pPr>
            <a:r>
              <a:t>Muhammad</a:t>
            </a:r>
            <a:r>
              <a:rPr spc="-34"/>
              <a:t> </a:t>
            </a:r>
            <a:r>
              <a:t>Sajid</a:t>
            </a:r>
            <a:r>
              <a:rPr spc="-25"/>
              <a:t> </a:t>
            </a:r>
            <a:r>
              <a:t>(TKI23CS077</a:t>
            </a:r>
            <a:r>
              <a:rPr spc="-25"/>
              <a:t> </a:t>
            </a:r>
            <a:r>
              <a:t>&amp;</a:t>
            </a:r>
            <a:r>
              <a:rPr spc="-10"/>
              <a:t> 6342)</a:t>
            </a:r>
          </a:p>
          <a:p>
            <a:pPr marL="298450" indent="-285750">
              <a:spcBef>
                <a:spcPts val="1100"/>
              </a:spcBef>
              <a:buSzPct val="100000"/>
              <a:buFont typeface="Arial"/>
              <a:buChar char="•"/>
              <a:tabLst>
                <a:tab pos="292100" algn="l"/>
              </a:tabLst>
              <a:defRPr>
                <a:solidFill>
                  <a:srgbClr val="C00000"/>
                </a:solidFill>
              </a:defRPr>
            </a:pPr>
            <a:r>
              <a:t>Parthan</a:t>
            </a:r>
            <a:r>
              <a:rPr spc="-30"/>
              <a:t> </a:t>
            </a:r>
            <a:r>
              <a:t>S</a:t>
            </a:r>
            <a:r>
              <a:rPr spc="10"/>
              <a:t> </a:t>
            </a:r>
            <a:r>
              <a:t>(TKI23CS090</a:t>
            </a:r>
            <a:r>
              <a:rPr spc="-25"/>
              <a:t> </a:t>
            </a:r>
            <a:r>
              <a:t>&amp;</a:t>
            </a:r>
            <a:r>
              <a:rPr spc="-10"/>
              <a:t> 6346)</a:t>
            </a:r>
          </a:p>
          <a:p>
            <a:pPr marL="298450" indent="-285750">
              <a:spcBef>
                <a:spcPts val="1000"/>
              </a:spcBef>
              <a:buSzPct val="100000"/>
              <a:buFont typeface="Arial"/>
              <a:buChar char="•"/>
              <a:tabLst>
                <a:tab pos="292100" algn="l"/>
              </a:tabLst>
              <a:defRPr>
                <a:solidFill>
                  <a:srgbClr val="C00000"/>
                </a:solidFill>
              </a:defRPr>
            </a:pPr>
            <a:r>
              <a:t>Azeem</a:t>
            </a:r>
            <a:r>
              <a:rPr spc="10"/>
              <a:t> </a:t>
            </a:r>
            <a:r>
              <a:t>N</a:t>
            </a:r>
            <a:r>
              <a:rPr spc="-40"/>
              <a:t> </a:t>
            </a:r>
            <a:r>
              <a:t>(TKI23CS038</a:t>
            </a:r>
            <a:r>
              <a:rPr spc="-10"/>
              <a:t> </a:t>
            </a:r>
            <a:r>
              <a:t>&amp;</a:t>
            </a:r>
            <a:r>
              <a:rPr spc="-60"/>
              <a:t> </a:t>
            </a:r>
            <a:r>
              <a:rPr spc="-10"/>
              <a:t>6321)</a:t>
            </a:r>
          </a:p>
        </p:txBody>
      </p:sp>
      <p:sp>
        <p:nvSpPr>
          <p:cNvPr id="98" name="object 5"/>
          <p:cNvSpPr txBox="1"/>
          <p:nvPr/>
        </p:nvSpPr>
        <p:spPr>
          <a:xfrm>
            <a:off x="8969375" y="3978338"/>
            <a:ext cx="2813050" cy="1585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10795" algn="r">
              <a:spcBef>
                <a:spcPts val="100"/>
              </a:spcBef>
              <a:defRPr>
                <a:solidFill>
                  <a:srgbClr val="C00000"/>
                </a:solidFill>
              </a:defRPr>
            </a:pPr>
            <a:r>
              <a:t>Under</a:t>
            </a:r>
            <a:r>
              <a:rPr spc="5"/>
              <a:t> </a:t>
            </a:r>
            <a:r>
              <a:t>the</a:t>
            </a:r>
            <a:r>
              <a:rPr spc="-50"/>
              <a:t> </a:t>
            </a:r>
            <a:r>
              <a:rPr spc="-10"/>
              <a:t>guidance:</a:t>
            </a:r>
          </a:p>
          <a:p>
            <a:pPr indent="1692275">
              <a:defRPr b="1" spc="-60">
                <a:solidFill>
                  <a:srgbClr val="FF0000"/>
                </a:solidFill>
              </a:defRPr>
            </a:pPr>
            <a:r>
              <a:t>Dr.</a:t>
            </a:r>
            <a:r>
              <a:rPr spc="-135"/>
              <a:t> </a:t>
            </a:r>
            <a:r>
              <a:rPr spc="0"/>
              <a:t>Ajesh</a:t>
            </a:r>
            <a:r>
              <a:rPr spc="5"/>
              <a:t> </a:t>
            </a:r>
            <a:r>
              <a:rPr spc="-50"/>
              <a:t>F</a:t>
            </a:r>
          </a:p>
          <a:p>
            <a:pPr marR="5080" algn="r">
              <a:defRPr spc="-10">
                <a:solidFill>
                  <a:srgbClr val="FF0000"/>
                </a:solidFill>
              </a:defRPr>
            </a:pPr>
            <a:r>
              <a:t>Professor</a:t>
            </a:r>
          </a:p>
          <a:p>
            <a:pPr marR="7620" indent="1641475" algn="r">
              <a:lnSpc>
                <a:spcPct val="99100"/>
              </a:lnSpc>
              <a:defRPr b="1" spc="-25">
                <a:solidFill>
                  <a:srgbClr val="FF0000"/>
                </a:solidFill>
              </a:defRPr>
            </a:pPr>
            <a:r>
              <a:t>Dr.</a:t>
            </a:r>
            <a:r>
              <a:rPr spc="-65"/>
              <a:t> </a:t>
            </a:r>
            <a:r>
              <a:rPr spc="0"/>
              <a:t>Sanila</a:t>
            </a:r>
            <a:r>
              <a:rPr spc="-55"/>
              <a:t> </a:t>
            </a:r>
            <a:r>
              <a:rPr spc="-50"/>
              <a:t>S </a:t>
            </a:r>
            <a:r>
              <a:rPr b="0" spc="0"/>
              <a:t>Associate</a:t>
            </a:r>
            <a:r>
              <a:rPr b="0" spc="-55"/>
              <a:t> </a:t>
            </a:r>
            <a:r>
              <a:rPr b="0" spc="0"/>
              <a:t>Professor</a:t>
            </a:r>
            <a:r>
              <a:rPr b="0" spc="-5"/>
              <a:t> </a:t>
            </a:r>
            <a:r>
              <a:rPr b="0" spc="-10"/>
              <a:t>Computer </a:t>
            </a:r>
            <a:r>
              <a:rPr b="0" spc="0"/>
              <a:t>Science</a:t>
            </a:r>
            <a:r>
              <a:rPr b="0"/>
              <a:t> </a:t>
            </a:r>
            <a:r>
              <a:rPr b="0" spc="0"/>
              <a:t>and</a:t>
            </a:r>
            <a:r>
              <a:rPr b="0" spc="-34"/>
              <a:t> </a:t>
            </a:r>
            <a:r>
              <a:rPr b="0" spc="-10"/>
              <a:t>Engineering</a:t>
            </a:r>
          </a:p>
        </p:txBody>
      </p:sp>
      <p:sp>
        <p:nvSpPr>
          <p:cNvPr id="99" name="object 6"/>
          <p:cNvSpPr txBox="1"/>
          <p:nvPr/>
        </p:nvSpPr>
        <p:spPr>
          <a:xfrm>
            <a:off x="4346575" y="3091814"/>
            <a:ext cx="3480435" cy="37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2700">
                <a:solidFill>
                  <a:srgbClr val="C55A11"/>
                </a:solidFill>
              </a:defRPr>
            </a:pPr>
            <a:r>
              <a:t>CSD</a:t>
            </a:r>
            <a:r>
              <a:rPr spc="35"/>
              <a:t> </a:t>
            </a:r>
            <a:r>
              <a:t>334</a:t>
            </a:r>
            <a:r>
              <a:rPr spc="100"/>
              <a:t> </a:t>
            </a:r>
            <a:r>
              <a:t>–</a:t>
            </a:r>
            <a:r>
              <a:rPr spc="65"/>
              <a:t> </a:t>
            </a:r>
            <a:r>
              <a:t>Mini</a:t>
            </a:r>
            <a:r>
              <a:rPr spc="70"/>
              <a:t> </a:t>
            </a:r>
            <a:r>
              <a:rPr spc="-10"/>
              <a:t>Project</a:t>
            </a:r>
          </a:p>
        </p:txBody>
      </p:sp>
      <p:pic>
        <p:nvPicPr>
          <p:cNvPr id="100" name="object 7" descr="object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250" y="95250"/>
            <a:ext cx="4333874" cy="8466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object 8" descr="object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34675" y="60234"/>
            <a:ext cx="1047750" cy="104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object 9" descr="object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00349" y="93403"/>
            <a:ext cx="3417157" cy="849949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object 11"/>
          <p:cNvSpPr txBox="1"/>
          <p:nvPr/>
        </p:nvSpPr>
        <p:spPr>
          <a:xfrm>
            <a:off x="11180826" y="6451048"/>
            <a:ext cx="101601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50" sz="1200">
                <a:solidFill>
                  <a:srgbClr val="888888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4" name="object 12"/>
          <p:cNvSpPr txBox="1"/>
          <p:nvPr/>
        </p:nvSpPr>
        <p:spPr>
          <a:xfrm>
            <a:off x="4786376" y="6578111"/>
            <a:ext cx="26295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5425">
              <a:defRPr sz="900">
                <a:solidFill>
                  <a:srgbClr val="888888"/>
                </a:solidFill>
              </a:defRPr>
            </a:pPr>
            <a:r>
              <a:t>Final</a:t>
            </a:r>
            <a:r>
              <a:rPr spc="90"/>
              <a:t> </a:t>
            </a:r>
            <a:r>
              <a:t>Review,</a:t>
            </a:r>
            <a:r>
              <a:rPr spc="30"/>
              <a:t> </a:t>
            </a:r>
            <a:r>
              <a:t>CSD</a:t>
            </a:r>
            <a:r>
              <a:rPr spc="110"/>
              <a:t> </a:t>
            </a:r>
            <a:r>
              <a:t>334</a:t>
            </a:r>
            <a:r>
              <a:rPr spc="95"/>
              <a:t> </a:t>
            </a:r>
            <a:r>
              <a:t>-</a:t>
            </a:r>
            <a:r>
              <a:rPr spc="100"/>
              <a:t> </a:t>
            </a:r>
            <a:r>
              <a:t>MINI</a:t>
            </a:r>
            <a:r>
              <a:rPr spc="120"/>
              <a:t> </a:t>
            </a:r>
            <a:r>
              <a:rPr spc="-10"/>
              <a:t>PROJECT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lide Number Placeholder 5"/>
          <p:cNvSpPr txBox="1"/>
          <p:nvPr>
            <p:ph type="sldNum" sz="quarter" idx="2"/>
          </p:nvPr>
        </p:nvSpPr>
        <p:spPr>
          <a:xfrm>
            <a:off x="11173459" y="6401179"/>
            <a:ext cx="180341" cy="2754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7" name="图片" descr="图片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625" y="29510"/>
            <a:ext cx="2384425" cy="463821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itle 1"/>
          <p:cNvSpPr txBox="1"/>
          <p:nvPr>
            <p:ph type="title"/>
          </p:nvPr>
        </p:nvSpPr>
        <p:spPr>
          <a:xfrm>
            <a:off x="878838" y="658494"/>
            <a:ext cx="4053206" cy="701041"/>
          </a:xfrm>
          <a:prstGeom prst="rect">
            <a:avLst/>
          </a:prstGeom>
        </p:spPr>
        <p:txBody>
          <a:bodyPr lIns="0" tIns="0" rIns="0" bIns="0" anchor="t"/>
          <a:lstStyle/>
          <a:p>
            <a:pPr algn="just" defTabSz="795527">
              <a:defRPr b="1" sz="3828">
                <a:solidFill>
                  <a:srgbClr val="2F5597"/>
                </a:solidFill>
                <a:latin typeface="Sitka Small Semibold"/>
                <a:ea typeface="Sitka Small Semibold"/>
                <a:cs typeface="Sitka Small Semibold"/>
                <a:sym typeface="Sitka Small Semibold"/>
              </a:defRPr>
            </a:pPr>
            <a:r>
              <a:t>Table of</a:t>
            </a:r>
            <a:r>
              <a:rPr spc="-174"/>
              <a:t> </a:t>
            </a:r>
            <a:r>
              <a:t>Contents</a:t>
            </a:r>
          </a:p>
        </p:txBody>
      </p:sp>
      <p:sp>
        <p:nvSpPr>
          <p:cNvPr id="110" name="object 3"/>
          <p:cNvSpPr txBox="1"/>
          <p:nvPr/>
        </p:nvSpPr>
        <p:spPr>
          <a:xfrm>
            <a:off x="590549" y="1524698"/>
            <a:ext cx="5892167" cy="4228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40029" indent="-227329">
              <a:spcBef>
                <a:spcPts val="800"/>
              </a:spcBef>
              <a:buSzPct val="100000"/>
              <a:buFont typeface="Arial"/>
              <a:buChar char="•"/>
              <a:tabLst>
                <a:tab pos="228600" algn="l"/>
              </a:tabLst>
              <a:defRPr sz="2400"/>
            </a:pPr>
            <a:r>
              <a:t>Problem</a:t>
            </a:r>
            <a:r>
              <a:rPr spc="-65"/>
              <a:t> </a:t>
            </a:r>
            <a:r>
              <a:rPr spc="-10"/>
              <a:t>Statement</a:t>
            </a:r>
            <a:endParaRPr spc="-10"/>
          </a:p>
          <a:p>
            <a:pPr marL="240029" indent="-227329">
              <a:spcBef>
                <a:spcPts val="800"/>
              </a:spcBef>
              <a:buSzPct val="100000"/>
              <a:buFont typeface="Arial"/>
              <a:buChar char="•"/>
              <a:tabLst>
                <a:tab pos="228600" algn="l"/>
              </a:tabLst>
              <a:defRPr sz="2400"/>
            </a:pPr>
            <a:r>
              <a:t>Aims</a:t>
            </a:r>
            <a:r>
              <a:rPr spc="-50"/>
              <a:t> </a:t>
            </a:r>
            <a:r>
              <a:t>&amp;</a:t>
            </a:r>
            <a:r>
              <a:rPr spc="-15"/>
              <a:t> </a:t>
            </a:r>
            <a:r>
              <a:rPr spc="-10"/>
              <a:t>Objectives</a:t>
            </a:r>
          </a:p>
          <a:p>
            <a:pPr marL="240029" indent="-227329">
              <a:spcBef>
                <a:spcPts val="700"/>
              </a:spcBef>
              <a:buSzPct val="100000"/>
              <a:buFont typeface="Arial"/>
              <a:buChar char="•"/>
              <a:tabLst>
                <a:tab pos="228600" algn="l"/>
              </a:tabLst>
              <a:defRPr sz="2400"/>
            </a:pPr>
            <a:r>
              <a:t>Literature</a:t>
            </a:r>
            <a:r>
              <a:rPr spc="-25"/>
              <a:t> </a:t>
            </a:r>
            <a:r>
              <a:rPr spc="-10"/>
              <a:t>Review</a:t>
            </a:r>
            <a:endParaRPr spc="-10"/>
          </a:p>
          <a:p>
            <a:pPr marL="240029" indent="-227329">
              <a:spcBef>
                <a:spcPts val="700"/>
              </a:spcBef>
              <a:buSzPct val="100000"/>
              <a:buFont typeface="Arial"/>
              <a:buChar char="•"/>
              <a:tabLst>
                <a:tab pos="228600" algn="l"/>
              </a:tabLst>
              <a:defRPr sz="2400"/>
            </a:pPr>
            <a:r>
              <a:rPr spc="-10"/>
              <a:t>Proposed System Overview</a:t>
            </a:r>
            <a:endParaRPr spc="-10"/>
          </a:p>
          <a:p>
            <a:pPr marL="240029" indent="-227329">
              <a:spcBef>
                <a:spcPts val="700"/>
              </a:spcBef>
              <a:buSzPct val="100000"/>
              <a:buFont typeface="Arial"/>
              <a:buChar char="•"/>
              <a:tabLst>
                <a:tab pos="228600" algn="l"/>
              </a:tabLst>
              <a:defRPr sz="2400"/>
            </a:pPr>
            <a:r>
              <a:rPr spc="-10"/>
              <a:t>Block Diagram</a:t>
            </a:r>
          </a:p>
          <a:p>
            <a:pPr marL="240029" indent="-227329">
              <a:spcBef>
                <a:spcPts val="700"/>
              </a:spcBef>
              <a:buSzPct val="100000"/>
              <a:buFont typeface="Arial"/>
              <a:buChar char="•"/>
              <a:tabLst>
                <a:tab pos="228600" algn="l"/>
              </a:tabLst>
              <a:defRPr sz="2400"/>
            </a:pPr>
            <a:r>
              <a:t>Methodology/</a:t>
            </a:r>
            <a:r>
              <a:rPr spc="-50"/>
              <a:t> </a:t>
            </a:r>
            <a:r>
              <a:rPr spc="-10"/>
              <a:t>Procedure</a:t>
            </a:r>
          </a:p>
          <a:p>
            <a:pPr marL="240029" indent="-227329">
              <a:spcBef>
                <a:spcPts val="700"/>
              </a:spcBef>
              <a:buSzPct val="100000"/>
              <a:buFont typeface="Arial"/>
              <a:buChar char="•"/>
              <a:tabLst>
                <a:tab pos="228600" algn="l"/>
              </a:tabLst>
              <a:defRPr sz="2400"/>
            </a:pPr>
            <a:r>
              <a:t>Result and GUI</a:t>
            </a:r>
          </a:p>
          <a:p>
            <a:pPr marL="240029" indent="-227329">
              <a:spcBef>
                <a:spcPts val="700"/>
              </a:spcBef>
              <a:buSzPct val="100000"/>
              <a:buFont typeface="Arial"/>
              <a:buChar char="•"/>
              <a:tabLst>
                <a:tab pos="228600" algn="l"/>
              </a:tabLst>
              <a:defRPr sz="2400"/>
            </a:pPr>
            <a:r>
              <a:t>SDG Mapping </a:t>
            </a:r>
          </a:p>
          <a:p>
            <a:pPr marL="240029" indent="-227329">
              <a:spcBef>
                <a:spcPts val="700"/>
              </a:spcBef>
              <a:buSzPct val="100000"/>
              <a:buFont typeface="Arial"/>
              <a:buChar char="•"/>
              <a:tabLst>
                <a:tab pos="228600" algn="l"/>
              </a:tabLst>
              <a:defRPr sz="2400"/>
            </a:pPr>
            <a:r>
              <a:t>Roles</a:t>
            </a:r>
            <a:r>
              <a:rPr spc="10"/>
              <a:t> </a:t>
            </a:r>
            <a:r>
              <a:t>and</a:t>
            </a:r>
            <a:r>
              <a:rPr spc="-25"/>
              <a:t> </a:t>
            </a:r>
            <a:r>
              <a:t>Responsibilities</a:t>
            </a:r>
            <a:r>
              <a:rPr spc="-60"/>
              <a:t> </a:t>
            </a:r>
            <a:r>
              <a:t>of </a:t>
            </a:r>
            <a:r>
              <a:rPr spc="-10"/>
              <a:t>Members</a:t>
            </a:r>
          </a:p>
          <a:p>
            <a:pPr marL="240029" indent="-227329">
              <a:spcBef>
                <a:spcPts val="700"/>
              </a:spcBef>
              <a:buSzPct val="100000"/>
              <a:buFont typeface="Arial"/>
              <a:buChar char="•"/>
              <a:tabLst>
                <a:tab pos="228600" algn="l"/>
              </a:tabLst>
              <a:defRPr spc="-10" sz="2400"/>
            </a:pPr>
            <a:r>
              <a:t>References</a:t>
            </a:r>
          </a:p>
        </p:txBody>
      </p:sp>
      <p:sp>
        <p:nvSpPr>
          <p:cNvPr id="111" name="object 12"/>
          <p:cNvSpPr txBox="1"/>
          <p:nvPr/>
        </p:nvSpPr>
        <p:spPr>
          <a:xfrm>
            <a:off x="4786376" y="6578111"/>
            <a:ext cx="26295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5425">
              <a:defRPr sz="900">
                <a:solidFill>
                  <a:srgbClr val="888888"/>
                </a:solidFill>
              </a:defRPr>
            </a:pPr>
            <a:r>
              <a:t>Final</a:t>
            </a:r>
            <a:r>
              <a:rPr spc="90"/>
              <a:t> </a:t>
            </a:r>
            <a:r>
              <a:t>Review,</a:t>
            </a:r>
            <a:r>
              <a:rPr spc="30"/>
              <a:t> </a:t>
            </a:r>
            <a:r>
              <a:t>CSD</a:t>
            </a:r>
            <a:r>
              <a:rPr spc="110"/>
              <a:t> </a:t>
            </a:r>
            <a:r>
              <a:t>334</a:t>
            </a:r>
            <a:r>
              <a:rPr spc="95"/>
              <a:t> </a:t>
            </a:r>
            <a:r>
              <a:t>-</a:t>
            </a:r>
            <a:r>
              <a:rPr spc="100"/>
              <a:t> </a:t>
            </a:r>
            <a:r>
              <a:t>MINI</a:t>
            </a:r>
            <a:r>
              <a:rPr spc="120"/>
              <a:t> </a:t>
            </a:r>
            <a:r>
              <a:rPr spc="-10"/>
              <a:t>PROJECT</a:t>
            </a:r>
          </a:p>
        </p:txBody>
      </p:sp>
      <p:sp>
        <p:nvSpPr>
          <p:cNvPr id="112" name="object 10"/>
          <p:cNvSpPr txBox="1"/>
          <p:nvPr/>
        </p:nvSpPr>
        <p:spPr>
          <a:xfrm>
            <a:off x="917575" y="6451048"/>
            <a:ext cx="777739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10" sz="1200">
                <a:solidFill>
                  <a:srgbClr val="888888"/>
                </a:solidFill>
              </a:defRPr>
            </a:lvl1pPr>
          </a:lstStyle>
          <a:p>
            <a:pPr/>
            <a:r>
              <a:t>06/04/2026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algn="just">
              <a:defRPr b="1">
                <a:solidFill>
                  <a:srgbClr val="2F5597"/>
                </a:solidFill>
                <a:latin typeface="Sitka Small Semibold"/>
                <a:ea typeface="Sitka Small Semibold"/>
                <a:cs typeface="Sitka Small Semibold"/>
                <a:sym typeface="Sitka Small Semibold"/>
              </a:defRPr>
            </a:pPr>
            <a:r>
              <a:t>Problem</a:t>
            </a:r>
            <a:r>
              <a:rPr>
                <a:solidFill>
                  <a:srgbClr val="000000"/>
                </a:solidFill>
              </a:rPr>
              <a:t> </a:t>
            </a:r>
            <a:r>
              <a:t>Statement</a:t>
            </a:r>
          </a:p>
        </p:txBody>
      </p:sp>
      <p:sp>
        <p:nvSpPr>
          <p:cNvPr id="115" name="Slide Number Placeholder 5"/>
          <p:cNvSpPr txBox="1"/>
          <p:nvPr>
            <p:ph type="sldNum" sz="quarter" idx="2"/>
          </p:nvPr>
        </p:nvSpPr>
        <p:spPr>
          <a:xfrm>
            <a:off x="11173459" y="6401179"/>
            <a:ext cx="180341" cy="2754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16" name="图片" descr="图片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object 3"/>
          <p:cNvSpPr txBox="1"/>
          <p:nvPr/>
        </p:nvSpPr>
        <p:spPr>
          <a:xfrm>
            <a:off x="504506" y="1698877"/>
            <a:ext cx="10239376" cy="3909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400"/>
              </a:spcBef>
              <a:buSzPct val="100000"/>
              <a:buFont typeface="Arial"/>
              <a:buChar char="•"/>
              <a:tabLst>
                <a:tab pos="241300" algn="l"/>
              </a:tabLst>
              <a:defRPr sz="2700"/>
            </a:pPr>
            <a:r>
              <a:t>Existing</a:t>
            </a:r>
            <a:r>
              <a:rPr spc="90"/>
              <a:t> </a:t>
            </a:r>
            <a:r>
              <a:t>chat</a:t>
            </a:r>
            <a:r>
              <a:rPr spc="100"/>
              <a:t> </a:t>
            </a:r>
            <a:r>
              <a:t>apps</a:t>
            </a:r>
            <a:r>
              <a:rPr spc="100"/>
              <a:t> </a:t>
            </a:r>
            <a:r>
              <a:t>rely</a:t>
            </a:r>
            <a:r>
              <a:rPr spc="90"/>
              <a:t> </a:t>
            </a:r>
            <a:r>
              <a:t>on</a:t>
            </a:r>
            <a:r>
              <a:rPr spc="85"/>
              <a:t> </a:t>
            </a:r>
            <a:r>
              <a:t>centralized</a:t>
            </a:r>
            <a:r>
              <a:rPr spc="90"/>
              <a:t> </a:t>
            </a:r>
            <a:r>
              <a:t>servers</a:t>
            </a:r>
            <a:r>
              <a:rPr spc="15"/>
              <a:t> </a:t>
            </a:r>
            <a:r>
              <a:t>and</a:t>
            </a:r>
            <a:r>
              <a:rPr spc="90"/>
              <a:t> </a:t>
            </a:r>
            <a:r>
              <a:t>lack</a:t>
            </a:r>
            <a:r>
              <a:rPr spc="85"/>
              <a:t> </a:t>
            </a:r>
            <a:r>
              <a:t>true</a:t>
            </a:r>
            <a:r>
              <a:rPr spc="100"/>
              <a:t> </a:t>
            </a:r>
            <a:r>
              <a:t>end-to-</a:t>
            </a:r>
            <a:r>
              <a:rPr spc="-25"/>
              <a:t>end </a:t>
            </a:r>
            <a:r>
              <a:rPr spc="-10"/>
              <a:t>encryption.</a:t>
            </a:r>
          </a:p>
          <a:p>
            <a:pPr marL="241300" marR="764540" indent="-228600">
              <a:lnSpc>
                <a:spcPts val="3000"/>
              </a:lnSpc>
              <a:spcBef>
                <a:spcPts val="1000"/>
              </a:spcBef>
              <a:buSzPct val="100000"/>
              <a:buFont typeface="Arial"/>
              <a:buChar char="•"/>
              <a:tabLst>
                <a:tab pos="241300" algn="l"/>
              </a:tabLst>
              <a:defRPr sz="2700"/>
            </a:pPr>
            <a:r>
              <a:t>Many</a:t>
            </a:r>
            <a:r>
              <a:rPr spc="95"/>
              <a:t> </a:t>
            </a:r>
            <a:r>
              <a:t>systems</a:t>
            </a:r>
            <a:r>
              <a:rPr spc="110"/>
              <a:t> </a:t>
            </a:r>
            <a:r>
              <a:t>struggle</a:t>
            </a:r>
            <a:r>
              <a:rPr spc="104"/>
              <a:t> </a:t>
            </a:r>
            <a:r>
              <a:t>with</a:t>
            </a:r>
            <a:r>
              <a:rPr spc="95"/>
              <a:t> </a:t>
            </a:r>
            <a:r>
              <a:t>scalability</a:t>
            </a:r>
            <a:r>
              <a:rPr spc="100"/>
              <a:t> </a:t>
            </a:r>
            <a:r>
              <a:t>and</a:t>
            </a:r>
            <a:r>
              <a:rPr spc="95"/>
              <a:t> </a:t>
            </a:r>
            <a:r>
              <a:t>real-time</a:t>
            </a:r>
            <a:r>
              <a:rPr spc="100"/>
              <a:t> </a:t>
            </a:r>
            <a:r>
              <a:rPr spc="-10"/>
              <a:t>multimedia performance.</a:t>
            </a:r>
          </a:p>
          <a:p>
            <a:pPr marL="240665" indent="-227965">
              <a:spcBef>
                <a:spcPts val="700"/>
              </a:spcBef>
              <a:buSzPct val="100000"/>
              <a:buFont typeface="Arial"/>
              <a:buChar char="•"/>
              <a:tabLst>
                <a:tab pos="228600" algn="l"/>
              </a:tabLst>
              <a:defRPr sz="2700"/>
            </a:pPr>
            <a:r>
              <a:t>Web</a:t>
            </a:r>
            <a:r>
              <a:rPr spc="50"/>
              <a:t> </a:t>
            </a:r>
            <a:r>
              <a:t>and</a:t>
            </a:r>
            <a:r>
              <a:rPr spc="50"/>
              <a:t> </a:t>
            </a:r>
            <a:r>
              <a:t>cross-device</a:t>
            </a:r>
            <a:r>
              <a:rPr spc="55"/>
              <a:t> </a:t>
            </a:r>
            <a:r>
              <a:t>support</a:t>
            </a:r>
            <a:r>
              <a:rPr spc="70"/>
              <a:t> </a:t>
            </a:r>
            <a:r>
              <a:t>is</a:t>
            </a:r>
            <a:r>
              <a:rPr spc="55"/>
              <a:t> </a:t>
            </a:r>
            <a:r>
              <a:t>limited</a:t>
            </a:r>
            <a:r>
              <a:rPr spc="50"/>
              <a:t> </a:t>
            </a:r>
            <a:r>
              <a:t>in</a:t>
            </a:r>
            <a:r>
              <a:rPr spc="50"/>
              <a:t> </a:t>
            </a:r>
            <a:r>
              <a:t>current</a:t>
            </a:r>
            <a:r>
              <a:rPr spc="-10"/>
              <a:t> solutions.</a:t>
            </a:r>
          </a:p>
          <a:p>
            <a:pPr marL="241300" marR="247650" indent="-228600">
              <a:lnSpc>
                <a:spcPts val="3000"/>
              </a:lnSpc>
              <a:spcBef>
                <a:spcPts val="1000"/>
              </a:spcBef>
              <a:buSzPct val="100000"/>
              <a:buFont typeface="Arial"/>
              <a:buChar char="•"/>
              <a:tabLst>
                <a:tab pos="241300" algn="l"/>
              </a:tabLst>
              <a:defRPr sz="2700"/>
            </a:pPr>
            <a:r>
              <a:t>This</a:t>
            </a:r>
            <a:r>
              <a:rPr spc="100"/>
              <a:t> </a:t>
            </a:r>
            <a:r>
              <a:t>project</a:t>
            </a:r>
            <a:r>
              <a:rPr spc="114"/>
              <a:t> </a:t>
            </a:r>
            <a:r>
              <a:t>builds</a:t>
            </a:r>
            <a:r>
              <a:rPr spc="110"/>
              <a:t> </a:t>
            </a:r>
            <a:r>
              <a:t>a</a:t>
            </a:r>
            <a:r>
              <a:rPr spc="110"/>
              <a:t> </a:t>
            </a:r>
            <a:r>
              <a:t>secure</a:t>
            </a:r>
            <a:r>
              <a:rPr spc="30"/>
              <a:t> </a:t>
            </a:r>
            <a:r>
              <a:t>web-based</a:t>
            </a:r>
            <a:r>
              <a:rPr spc="95"/>
              <a:t> </a:t>
            </a:r>
            <a:r>
              <a:t>chat</a:t>
            </a:r>
            <a:r>
              <a:rPr spc="120"/>
              <a:t> </a:t>
            </a:r>
            <a:r>
              <a:t>application</a:t>
            </a:r>
            <a:r>
              <a:rPr spc="95"/>
              <a:t> </a:t>
            </a:r>
            <a:r>
              <a:t>for</a:t>
            </a:r>
            <a:r>
              <a:rPr spc="35"/>
              <a:t> </a:t>
            </a:r>
            <a:r>
              <a:t>real-</a:t>
            </a:r>
            <a:r>
              <a:rPr spc="-20"/>
              <a:t>time </a:t>
            </a:r>
            <a:r>
              <a:rPr spc="-10"/>
              <a:t>communication</a:t>
            </a:r>
          </a:p>
          <a:p>
            <a:pPr marL="241300" marR="513715" indent="-228600">
              <a:lnSpc>
                <a:spcPts val="3000"/>
              </a:lnSpc>
              <a:spcBef>
                <a:spcPts val="1000"/>
              </a:spcBef>
              <a:buSzPct val="100000"/>
              <a:buFont typeface="Arial"/>
              <a:buChar char="•"/>
              <a:tabLst>
                <a:tab pos="241300" algn="l"/>
              </a:tabLst>
              <a:defRPr sz="2700"/>
            </a:pPr>
            <a:r>
              <a:t>It</a:t>
            </a:r>
            <a:r>
              <a:rPr spc="25"/>
              <a:t> </a:t>
            </a:r>
            <a:r>
              <a:t>uses</a:t>
            </a:r>
            <a:r>
              <a:rPr spc="104"/>
              <a:t> </a:t>
            </a:r>
            <a:r>
              <a:t>a</a:t>
            </a:r>
            <a:r>
              <a:rPr spc="20"/>
              <a:t> </a:t>
            </a:r>
            <a:r>
              <a:t>TypeScript</a:t>
            </a:r>
            <a:r>
              <a:rPr spc="35"/>
              <a:t> </a:t>
            </a:r>
            <a:r>
              <a:t>frontend,</a:t>
            </a:r>
            <a:r>
              <a:rPr spc="120"/>
              <a:t> </a:t>
            </a:r>
            <a:r>
              <a:t>Python</a:t>
            </a:r>
            <a:r>
              <a:rPr spc="90"/>
              <a:t> </a:t>
            </a:r>
            <a:r>
              <a:t>backend</a:t>
            </a:r>
            <a:r>
              <a:rPr spc="95"/>
              <a:t> </a:t>
            </a:r>
            <a:r>
              <a:t>and</a:t>
            </a:r>
            <a:r>
              <a:rPr spc="95"/>
              <a:t> </a:t>
            </a:r>
            <a:r>
              <a:t>PostgreSQL</a:t>
            </a:r>
            <a:r>
              <a:rPr spc="10"/>
              <a:t> </a:t>
            </a:r>
            <a:r>
              <a:rPr spc="-25"/>
              <a:t>for </a:t>
            </a:r>
            <a:r>
              <a:t>scalability</a:t>
            </a:r>
            <a:r>
              <a:rPr spc="90"/>
              <a:t> </a:t>
            </a:r>
            <a:r>
              <a:t>and</a:t>
            </a:r>
            <a:r>
              <a:rPr spc="104"/>
              <a:t> </a:t>
            </a:r>
            <a:r>
              <a:rPr spc="-10"/>
              <a:t>privacy.</a:t>
            </a:r>
          </a:p>
        </p:txBody>
      </p:sp>
      <p:pic>
        <p:nvPicPr>
          <p:cNvPr id="118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625" y="29510"/>
            <a:ext cx="2384425" cy="463821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object 12"/>
          <p:cNvSpPr txBox="1"/>
          <p:nvPr/>
        </p:nvSpPr>
        <p:spPr>
          <a:xfrm>
            <a:off x="4786376" y="6578111"/>
            <a:ext cx="26295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5425">
              <a:defRPr sz="900">
                <a:solidFill>
                  <a:srgbClr val="888888"/>
                </a:solidFill>
              </a:defRPr>
            </a:pPr>
            <a:r>
              <a:t>Final</a:t>
            </a:r>
            <a:r>
              <a:rPr spc="90"/>
              <a:t> </a:t>
            </a:r>
            <a:r>
              <a:t>Review,</a:t>
            </a:r>
            <a:r>
              <a:rPr spc="30"/>
              <a:t> </a:t>
            </a:r>
            <a:r>
              <a:t>CSD</a:t>
            </a:r>
            <a:r>
              <a:rPr spc="110"/>
              <a:t> </a:t>
            </a:r>
            <a:r>
              <a:t>334</a:t>
            </a:r>
            <a:r>
              <a:rPr spc="95"/>
              <a:t> </a:t>
            </a:r>
            <a:r>
              <a:t>-</a:t>
            </a:r>
            <a:r>
              <a:rPr spc="100"/>
              <a:t> </a:t>
            </a:r>
            <a:r>
              <a:t>MINI</a:t>
            </a:r>
            <a:r>
              <a:rPr spc="120"/>
              <a:t> </a:t>
            </a:r>
            <a:r>
              <a:rPr spc="-10"/>
              <a:t>PROJECT</a:t>
            </a:r>
          </a:p>
        </p:txBody>
      </p:sp>
      <p:sp>
        <p:nvSpPr>
          <p:cNvPr id="120" name="object 10"/>
          <p:cNvSpPr txBox="1"/>
          <p:nvPr/>
        </p:nvSpPr>
        <p:spPr>
          <a:xfrm>
            <a:off x="917575" y="6451048"/>
            <a:ext cx="777739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10" sz="1200">
                <a:solidFill>
                  <a:srgbClr val="888888"/>
                </a:solidFill>
              </a:defRPr>
            </a:lvl1pPr>
          </a:lstStyle>
          <a:p>
            <a:pPr/>
            <a:r>
              <a:t>06/04/2026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>
            <p:ph type="title"/>
          </p:nvPr>
        </p:nvSpPr>
        <p:spPr>
          <a:xfrm>
            <a:off x="669388" y="547060"/>
            <a:ext cx="10515601" cy="1099178"/>
          </a:xfrm>
          <a:prstGeom prst="rect">
            <a:avLst/>
          </a:prstGeom>
        </p:spPr>
        <p:txBody>
          <a:bodyPr/>
          <a:lstStyle>
            <a:lvl1pPr algn="just">
              <a:defRPr b="1" sz="4000">
                <a:solidFill>
                  <a:srgbClr val="2F5597"/>
                </a:solidFill>
                <a:latin typeface="Sitka Small Semibold"/>
                <a:ea typeface="Sitka Small Semibold"/>
                <a:cs typeface="Sitka Small Semibold"/>
                <a:sym typeface="Sitka Small Semibold"/>
              </a:defRPr>
            </a:lvl1pPr>
          </a:lstStyle>
          <a:p>
            <a:pPr/>
            <a:r>
              <a:t>Aim</a:t>
            </a:r>
          </a:p>
        </p:txBody>
      </p:sp>
      <p:sp>
        <p:nvSpPr>
          <p:cNvPr id="123" name="Slide Number Placeholder 4"/>
          <p:cNvSpPr txBox="1"/>
          <p:nvPr>
            <p:ph type="sldNum" sz="quarter" idx="2"/>
          </p:nvPr>
        </p:nvSpPr>
        <p:spPr>
          <a:xfrm>
            <a:off x="11173459" y="6401179"/>
            <a:ext cx="180341" cy="2754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4" name="图片" descr="图片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625" y="29510"/>
            <a:ext cx="2384425" cy="46382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object 6"/>
          <p:cNvSpPr txBox="1"/>
          <p:nvPr/>
        </p:nvSpPr>
        <p:spPr>
          <a:xfrm>
            <a:off x="373378" y="1867470"/>
            <a:ext cx="11381107" cy="3682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" marR="5080" indent="-8254">
              <a:lnSpc>
                <a:spcPts val="2600"/>
              </a:lnSpc>
              <a:spcBef>
                <a:spcPts val="300"/>
              </a:spcBef>
              <a:buSzPct val="95833"/>
              <a:buChar char="•"/>
              <a:tabLst>
                <a:tab pos="114300" algn="l"/>
                <a:tab pos="558800" algn="l"/>
                <a:tab pos="1638300" algn="l"/>
                <a:tab pos="4737100" algn="l"/>
                <a:tab pos="5372100" algn="l"/>
              </a:tabLst>
              <a:defRPr spc="-25" sz="2400"/>
            </a:pPr>
            <a:r>
              <a:t>	To</a:t>
            </a:r>
            <a:r>
              <a:rPr spc="0"/>
              <a:t>	</a:t>
            </a:r>
            <a:r>
              <a:rPr spc="-10"/>
              <a:t>develop</a:t>
            </a:r>
            <a:r>
              <a:rPr spc="0"/>
              <a:t>	a</a:t>
            </a:r>
            <a:r>
              <a:rPr spc="380"/>
              <a:t> </a:t>
            </a:r>
            <a:r>
              <a:rPr spc="0"/>
              <a:t>secure,</a:t>
            </a:r>
            <a:r>
              <a:rPr spc="375"/>
              <a:t> </a:t>
            </a:r>
            <a:r>
              <a:rPr spc="-10"/>
              <a:t>real-</a:t>
            </a:r>
            <a:r>
              <a:rPr spc="0"/>
              <a:t>time</a:t>
            </a:r>
            <a:r>
              <a:rPr spc="354"/>
              <a:t> </a:t>
            </a:r>
            <a:r>
              <a:t>web</a:t>
            </a:r>
            <a:r>
              <a:rPr spc="0"/>
              <a:t>	</a:t>
            </a:r>
            <a:r>
              <a:rPr spc="-20"/>
              <a:t>chat</a:t>
            </a:r>
            <a:r>
              <a:rPr spc="0"/>
              <a:t>	application</a:t>
            </a:r>
            <a:r>
              <a:rPr spc="350"/>
              <a:t> </a:t>
            </a:r>
            <a:r>
              <a:rPr spc="0"/>
              <a:t>with</a:t>
            </a:r>
            <a:r>
              <a:rPr spc="350"/>
              <a:t> </a:t>
            </a:r>
            <a:r>
              <a:rPr spc="0"/>
              <a:t>modern</a:t>
            </a:r>
            <a:r>
              <a:rPr spc="335"/>
              <a:t> </a:t>
            </a:r>
            <a:r>
              <a:rPr spc="0"/>
              <a:t>UI</a:t>
            </a:r>
            <a:r>
              <a:rPr spc="370"/>
              <a:t> </a:t>
            </a:r>
            <a:r>
              <a:rPr spc="0"/>
              <a:t>and</a:t>
            </a:r>
            <a:r>
              <a:rPr spc="370"/>
              <a:t> </a:t>
            </a:r>
            <a:r>
              <a:rPr spc="0"/>
              <a:t>scalable</a:t>
            </a:r>
            <a:r>
              <a:rPr spc="344"/>
              <a:t> </a:t>
            </a:r>
            <a:r>
              <a:rPr spc="-10"/>
              <a:t>cloud deployment.</a:t>
            </a:r>
          </a:p>
          <a:p>
            <a:pPr indent="234315">
              <a:spcBef>
                <a:spcPts val="1300"/>
              </a:spcBef>
              <a:defRPr b="1" spc="-10" sz="3900" u="sng">
                <a:solidFill>
                  <a:srgbClr val="2E5496"/>
                </a:solidFill>
                <a:uFill>
                  <a:solidFill>
                    <a:srgbClr val="2E5496"/>
                  </a:solidFill>
                </a:uFill>
                <a:latin typeface="+mj-lt"/>
                <a:ea typeface="+mj-ea"/>
                <a:cs typeface="+mj-cs"/>
                <a:sym typeface="Calibri"/>
              </a:defRPr>
            </a:pPr>
            <a:r>
              <a:t>Objectives</a:t>
            </a:r>
          </a:p>
          <a:p>
            <a:pPr marL="367029" indent="-342265">
              <a:lnSpc>
                <a:spcPts val="2700"/>
              </a:lnSpc>
              <a:spcBef>
                <a:spcPts val="1000"/>
              </a:spcBef>
              <a:buSzPct val="100000"/>
              <a:buAutoNum type="arabicPeriod" startAt="1"/>
              <a:tabLst>
                <a:tab pos="355600" algn="l"/>
                <a:tab pos="901700" algn="l"/>
                <a:tab pos="2413000" algn="l"/>
                <a:tab pos="3733800" algn="l"/>
                <a:tab pos="5232400" algn="l"/>
                <a:tab pos="6121400" algn="l"/>
              </a:tabLst>
              <a:defRPr spc="-25" sz="2400">
                <a:solidFill>
                  <a:srgbClr val="404040"/>
                </a:solidFill>
              </a:defRPr>
            </a:pPr>
            <a:r>
              <a:t>To</a:t>
            </a:r>
            <a:r>
              <a:rPr spc="0"/>
              <a:t>	</a:t>
            </a:r>
            <a:r>
              <a:rPr spc="-10"/>
              <a:t>implement</a:t>
            </a:r>
            <a:r>
              <a:rPr spc="0"/>
              <a:t>	</a:t>
            </a:r>
            <a:r>
              <a:rPr spc="-10"/>
              <a:t>real-</a:t>
            </a:r>
            <a:r>
              <a:rPr spc="-20"/>
              <a:t>time</a:t>
            </a:r>
            <a:r>
              <a:rPr spc="0"/>
              <a:t>	</a:t>
            </a:r>
            <a:r>
              <a:rPr spc="-10"/>
              <a:t>messaging</a:t>
            </a:r>
            <a:r>
              <a:rPr spc="0"/>
              <a:t>	</a:t>
            </a:r>
            <a:r>
              <a:rPr spc="-10"/>
              <a:t>using</a:t>
            </a:r>
            <a:r>
              <a:rPr spc="0"/>
              <a:t>	</a:t>
            </a:r>
            <a:r>
              <a:rPr spc="-10"/>
              <a:t>WebSocket</a:t>
            </a:r>
          </a:p>
          <a:p>
            <a:pPr indent="367665">
              <a:lnSpc>
                <a:spcPts val="2700"/>
              </a:lnSpc>
              <a:defRPr spc="-10" sz="2400">
                <a:solidFill>
                  <a:srgbClr val="404040"/>
                </a:solidFill>
              </a:defRPr>
            </a:pPr>
            <a:r>
              <a:t>technology</a:t>
            </a:r>
          </a:p>
          <a:p>
            <a:pPr marL="367029" indent="-342265">
              <a:spcBef>
                <a:spcPts val="1100"/>
              </a:spcBef>
              <a:buSzPct val="100000"/>
              <a:buAutoNum type="arabicPeriod" startAt="2"/>
              <a:tabLst>
                <a:tab pos="355600" algn="l"/>
              </a:tabLst>
              <a:defRPr spc="-30" sz="2400">
                <a:solidFill>
                  <a:srgbClr val="404040"/>
                </a:solidFill>
              </a:defRPr>
            </a:pPr>
            <a:r>
              <a:t>To</a:t>
            </a:r>
            <a:r>
              <a:rPr spc="-15"/>
              <a:t> </a:t>
            </a:r>
            <a:r>
              <a:rPr spc="0"/>
              <a:t>provide</a:t>
            </a:r>
            <a:r>
              <a:rPr spc="-70"/>
              <a:t> </a:t>
            </a:r>
            <a:r>
              <a:rPr spc="0"/>
              <a:t>secure</a:t>
            </a:r>
            <a:r>
              <a:rPr spc="-60"/>
              <a:t> </a:t>
            </a:r>
            <a:r>
              <a:rPr spc="0"/>
              <a:t>user</a:t>
            </a:r>
            <a:r>
              <a:rPr spc="-45"/>
              <a:t> </a:t>
            </a:r>
            <a:r>
              <a:rPr spc="0"/>
              <a:t>authentication</a:t>
            </a:r>
            <a:r>
              <a:rPr spc="-35"/>
              <a:t> </a:t>
            </a:r>
            <a:r>
              <a:rPr spc="0"/>
              <a:t>using</a:t>
            </a:r>
            <a:r>
              <a:rPr spc="-10"/>
              <a:t> </a:t>
            </a:r>
            <a:r>
              <a:rPr spc="0"/>
              <a:t>JWT</a:t>
            </a:r>
            <a:r>
              <a:rPr spc="-100"/>
              <a:t> </a:t>
            </a:r>
            <a:r>
              <a:rPr spc="-10"/>
              <a:t>tokens</a:t>
            </a:r>
          </a:p>
          <a:p>
            <a:pPr marL="367029" indent="-342265">
              <a:spcBef>
                <a:spcPts val="1100"/>
              </a:spcBef>
              <a:buSzPct val="100000"/>
              <a:buAutoNum type="arabicPeriod" startAt="2"/>
              <a:tabLst>
                <a:tab pos="355600" algn="l"/>
              </a:tabLst>
              <a:defRPr spc="-30" sz="2400">
                <a:solidFill>
                  <a:srgbClr val="404040"/>
                </a:solidFill>
              </a:defRPr>
            </a:pPr>
            <a:r>
              <a:t>To</a:t>
            </a:r>
            <a:r>
              <a:rPr spc="-20"/>
              <a:t> </a:t>
            </a:r>
            <a:r>
              <a:rPr spc="0"/>
              <a:t>design</a:t>
            </a:r>
            <a:r>
              <a:rPr spc="-65"/>
              <a:t> </a:t>
            </a:r>
            <a:r>
              <a:rPr spc="0"/>
              <a:t>a</a:t>
            </a:r>
            <a:r>
              <a:rPr spc="-35"/>
              <a:t> </a:t>
            </a:r>
            <a:r>
              <a:rPr spc="0"/>
              <a:t>responsive</a:t>
            </a:r>
            <a:r>
              <a:rPr spc="-40"/>
              <a:t> </a:t>
            </a:r>
            <a:r>
              <a:rPr spc="0"/>
              <a:t>and</a:t>
            </a:r>
            <a:r>
              <a:rPr spc="-25"/>
              <a:t> </a:t>
            </a:r>
            <a:r>
              <a:rPr spc="0"/>
              <a:t>intuitive</a:t>
            </a:r>
            <a:r>
              <a:t> </a:t>
            </a:r>
            <a:r>
              <a:rPr spc="0"/>
              <a:t>user</a:t>
            </a:r>
            <a:r>
              <a:rPr spc="-50"/>
              <a:t> </a:t>
            </a:r>
            <a:r>
              <a:rPr spc="-10"/>
              <a:t>interface</a:t>
            </a:r>
          </a:p>
          <a:p>
            <a:pPr marL="367029" indent="-342265">
              <a:spcBef>
                <a:spcPts val="1100"/>
              </a:spcBef>
              <a:buSzPct val="100000"/>
              <a:buAutoNum type="arabicPeriod" startAt="2"/>
              <a:tabLst>
                <a:tab pos="355600" algn="l"/>
              </a:tabLst>
              <a:defRPr spc="-35" sz="2400">
                <a:solidFill>
                  <a:srgbClr val="404040"/>
                </a:solidFill>
              </a:defRPr>
            </a:pPr>
            <a:r>
              <a:t>To</a:t>
            </a:r>
            <a:r>
              <a:rPr spc="-30"/>
              <a:t> </a:t>
            </a:r>
            <a:r>
              <a:rPr spc="0"/>
              <a:t>ensure</a:t>
            </a:r>
            <a:r>
              <a:rPr spc="-30"/>
              <a:t> </a:t>
            </a:r>
            <a:r>
              <a:rPr spc="0"/>
              <a:t>data</a:t>
            </a:r>
            <a:r>
              <a:rPr spc="-55"/>
              <a:t> </a:t>
            </a:r>
            <a:r>
              <a:rPr spc="0"/>
              <a:t>persistence</a:t>
            </a:r>
            <a:r>
              <a:rPr spc="-55"/>
              <a:t> </a:t>
            </a:r>
            <a:r>
              <a:rPr spc="0"/>
              <a:t>using</a:t>
            </a:r>
            <a:r>
              <a:rPr spc="-20"/>
              <a:t> </a:t>
            </a:r>
            <a:r>
              <a:rPr spc="0"/>
              <a:t>a</a:t>
            </a:r>
            <a:r>
              <a:rPr spc="-50"/>
              <a:t> </a:t>
            </a:r>
            <a:r>
              <a:rPr spc="0"/>
              <a:t>PostgreSQL</a:t>
            </a:r>
            <a:r>
              <a:rPr spc="-135"/>
              <a:t> </a:t>
            </a:r>
            <a:r>
              <a:rPr spc="-10"/>
              <a:t>database</a:t>
            </a:r>
          </a:p>
        </p:txBody>
      </p:sp>
      <p:grpSp>
        <p:nvGrpSpPr>
          <p:cNvPr id="131" name="object 8"/>
          <p:cNvGrpSpPr/>
          <p:nvPr/>
        </p:nvGrpSpPr>
        <p:grpSpPr>
          <a:xfrm>
            <a:off x="8439150" y="3186175"/>
            <a:ext cx="3443352" cy="3671825"/>
            <a:chOff x="0" y="0"/>
            <a:chExt cx="3443351" cy="3671822"/>
          </a:xfrm>
        </p:grpSpPr>
        <p:sp>
          <p:nvSpPr>
            <p:cNvPr id="127" name="object 9"/>
            <p:cNvSpPr/>
            <p:nvPr/>
          </p:nvSpPr>
          <p:spPr>
            <a:xfrm>
              <a:off x="71501" y="0"/>
              <a:ext cx="3314701" cy="23526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044" y="0"/>
                  </a:moveTo>
                  <a:lnTo>
                    <a:pt x="2555" y="0"/>
                  </a:lnTo>
                  <a:lnTo>
                    <a:pt x="2234" y="28"/>
                  </a:lnTo>
                  <a:lnTo>
                    <a:pt x="1926" y="110"/>
                  </a:lnTo>
                  <a:lnTo>
                    <a:pt x="1631" y="242"/>
                  </a:lnTo>
                  <a:lnTo>
                    <a:pt x="1354" y="422"/>
                  </a:lnTo>
                  <a:lnTo>
                    <a:pt x="1095" y="645"/>
                  </a:lnTo>
                  <a:lnTo>
                    <a:pt x="858" y="908"/>
                  </a:lnTo>
                  <a:lnTo>
                    <a:pt x="645" y="1209"/>
                  </a:lnTo>
                  <a:lnTo>
                    <a:pt x="458" y="1543"/>
                  </a:lnTo>
                  <a:lnTo>
                    <a:pt x="299" y="1907"/>
                  </a:lnTo>
                  <a:lnTo>
                    <a:pt x="172" y="2298"/>
                  </a:lnTo>
                  <a:lnTo>
                    <a:pt x="78" y="2713"/>
                  </a:lnTo>
                  <a:lnTo>
                    <a:pt x="20" y="3148"/>
                  </a:lnTo>
                  <a:lnTo>
                    <a:pt x="0" y="3599"/>
                  </a:lnTo>
                  <a:lnTo>
                    <a:pt x="0" y="17999"/>
                  </a:lnTo>
                  <a:lnTo>
                    <a:pt x="20" y="18451"/>
                  </a:lnTo>
                  <a:lnTo>
                    <a:pt x="78" y="18886"/>
                  </a:lnTo>
                  <a:lnTo>
                    <a:pt x="172" y="19301"/>
                  </a:lnTo>
                  <a:lnTo>
                    <a:pt x="299" y="19692"/>
                  </a:lnTo>
                  <a:lnTo>
                    <a:pt x="458" y="20056"/>
                  </a:lnTo>
                  <a:lnTo>
                    <a:pt x="645" y="20390"/>
                  </a:lnTo>
                  <a:lnTo>
                    <a:pt x="858" y="20691"/>
                  </a:lnTo>
                  <a:lnTo>
                    <a:pt x="1095" y="20955"/>
                  </a:lnTo>
                  <a:lnTo>
                    <a:pt x="1354" y="21178"/>
                  </a:lnTo>
                  <a:lnTo>
                    <a:pt x="1631" y="21358"/>
                  </a:lnTo>
                  <a:lnTo>
                    <a:pt x="1926" y="21490"/>
                  </a:lnTo>
                  <a:lnTo>
                    <a:pt x="2234" y="21572"/>
                  </a:lnTo>
                  <a:lnTo>
                    <a:pt x="2555" y="21600"/>
                  </a:lnTo>
                  <a:lnTo>
                    <a:pt x="19044" y="21600"/>
                  </a:lnTo>
                  <a:lnTo>
                    <a:pt x="19365" y="21572"/>
                  </a:lnTo>
                  <a:lnTo>
                    <a:pt x="19674" y="21490"/>
                  </a:lnTo>
                  <a:lnTo>
                    <a:pt x="19968" y="21358"/>
                  </a:lnTo>
                  <a:lnTo>
                    <a:pt x="20246" y="21178"/>
                  </a:lnTo>
                  <a:lnTo>
                    <a:pt x="20504" y="20955"/>
                  </a:lnTo>
                  <a:lnTo>
                    <a:pt x="20742" y="20691"/>
                  </a:lnTo>
                  <a:lnTo>
                    <a:pt x="20955" y="20390"/>
                  </a:lnTo>
                  <a:lnTo>
                    <a:pt x="21142" y="20056"/>
                  </a:lnTo>
                  <a:lnTo>
                    <a:pt x="21301" y="19692"/>
                  </a:lnTo>
                  <a:lnTo>
                    <a:pt x="21428" y="19301"/>
                  </a:lnTo>
                  <a:lnTo>
                    <a:pt x="21522" y="18886"/>
                  </a:lnTo>
                  <a:lnTo>
                    <a:pt x="21580" y="18451"/>
                  </a:lnTo>
                  <a:lnTo>
                    <a:pt x="21600" y="17999"/>
                  </a:lnTo>
                  <a:lnTo>
                    <a:pt x="21600" y="3599"/>
                  </a:lnTo>
                  <a:lnTo>
                    <a:pt x="21580" y="3148"/>
                  </a:lnTo>
                  <a:lnTo>
                    <a:pt x="21522" y="2713"/>
                  </a:lnTo>
                  <a:lnTo>
                    <a:pt x="21428" y="2298"/>
                  </a:lnTo>
                  <a:lnTo>
                    <a:pt x="21301" y="1907"/>
                  </a:lnTo>
                  <a:lnTo>
                    <a:pt x="21142" y="1543"/>
                  </a:lnTo>
                  <a:lnTo>
                    <a:pt x="20955" y="1209"/>
                  </a:lnTo>
                  <a:lnTo>
                    <a:pt x="20742" y="908"/>
                  </a:lnTo>
                  <a:lnTo>
                    <a:pt x="20504" y="645"/>
                  </a:lnTo>
                  <a:lnTo>
                    <a:pt x="20246" y="422"/>
                  </a:lnTo>
                  <a:lnTo>
                    <a:pt x="19968" y="242"/>
                  </a:lnTo>
                  <a:lnTo>
                    <a:pt x="19674" y="110"/>
                  </a:lnTo>
                  <a:lnTo>
                    <a:pt x="19365" y="28"/>
                  </a:lnTo>
                  <a:lnTo>
                    <a:pt x="19044" y="0"/>
                  </a:lnTo>
                  <a:close/>
                </a:path>
              </a:pathLst>
            </a:custGeom>
            <a:solidFill>
              <a:srgbClr val="4471C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28" name="object 10"/>
            <p:cNvSpPr/>
            <p:nvPr/>
          </p:nvSpPr>
          <p:spPr>
            <a:xfrm>
              <a:off x="71501" y="0"/>
              <a:ext cx="3314701" cy="23526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599"/>
                  </a:moveTo>
                  <a:lnTo>
                    <a:pt x="20" y="3148"/>
                  </a:lnTo>
                  <a:lnTo>
                    <a:pt x="78" y="2713"/>
                  </a:lnTo>
                  <a:lnTo>
                    <a:pt x="172" y="2298"/>
                  </a:lnTo>
                  <a:lnTo>
                    <a:pt x="299" y="1907"/>
                  </a:lnTo>
                  <a:lnTo>
                    <a:pt x="458" y="1543"/>
                  </a:lnTo>
                  <a:lnTo>
                    <a:pt x="645" y="1209"/>
                  </a:lnTo>
                  <a:lnTo>
                    <a:pt x="858" y="908"/>
                  </a:lnTo>
                  <a:lnTo>
                    <a:pt x="1095" y="645"/>
                  </a:lnTo>
                  <a:lnTo>
                    <a:pt x="1354" y="422"/>
                  </a:lnTo>
                  <a:lnTo>
                    <a:pt x="1631" y="242"/>
                  </a:lnTo>
                  <a:lnTo>
                    <a:pt x="1926" y="110"/>
                  </a:lnTo>
                  <a:lnTo>
                    <a:pt x="2234" y="28"/>
                  </a:lnTo>
                  <a:lnTo>
                    <a:pt x="2555" y="0"/>
                  </a:lnTo>
                  <a:lnTo>
                    <a:pt x="19044" y="0"/>
                  </a:lnTo>
                  <a:lnTo>
                    <a:pt x="19365" y="28"/>
                  </a:lnTo>
                  <a:lnTo>
                    <a:pt x="19674" y="110"/>
                  </a:lnTo>
                  <a:lnTo>
                    <a:pt x="19968" y="242"/>
                  </a:lnTo>
                  <a:lnTo>
                    <a:pt x="20246" y="422"/>
                  </a:lnTo>
                  <a:lnTo>
                    <a:pt x="20504" y="645"/>
                  </a:lnTo>
                  <a:lnTo>
                    <a:pt x="20742" y="908"/>
                  </a:lnTo>
                  <a:lnTo>
                    <a:pt x="20955" y="1209"/>
                  </a:lnTo>
                  <a:lnTo>
                    <a:pt x="21142" y="1543"/>
                  </a:lnTo>
                  <a:lnTo>
                    <a:pt x="21301" y="1907"/>
                  </a:lnTo>
                  <a:lnTo>
                    <a:pt x="21428" y="2298"/>
                  </a:lnTo>
                  <a:lnTo>
                    <a:pt x="21522" y="2713"/>
                  </a:lnTo>
                  <a:lnTo>
                    <a:pt x="21580" y="3148"/>
                  </a:lnTo>
                  <a:lnTo>
                    <a:pt x="21600" y="3599"/>
                  </a:lnTo>
                  <a:lnTo>
                    <a:pt x="21600" y="17999"/>
                  </a:lnTo>
                  <a:lnTo>
                    <a:pt x="21580" y="18451"/>
                  </a:lnTo>
                  <a:lnTo>
                    <a:pt x="21522" y="18886"/>
                  </a:lnTo>
                  <a:lnTo>
                    <a:pt x="21428" y="19301"/>
                  </a:lnTo>
                  <a:lnTo>
                    <a:pt x="21301" y="19692"/>
                  </a:lnTo>
                  <a:lnTo>
                    <a:pt x="21142" y="20056"/>
                  </a:lnTo>
                  <a:lnTo>
                    <a:pt x="20955" y="20390"/>
                  </a:lnTo>
                  <a:lnTo>
                    <a:pt x="20742" y="20691"/>
                  </a:lnTo>
                  <a:lnTo>
                    <a:pt x="20504" y="20955"/>
                  </a:lnTo>
                  <a:lnTo>
                    <a:pt x="20246" y="21178"/>
                  </a:lnTo>
                  <a:lnTo>
                    <a:pt x="19968" y="21358"/>
                  </a:lnTo>
                  <a:lnTo>
                    <a:pt x="19674" y="21490"/>
                  </a:lnTo>
                  <a:lnTo>
                    <a:pt x="19365" y="21572"/>
                  </a:lnTo>
                  <a:lnTo>
                    <a:pt x="19044" y="21600"/>
                  </a:lnTo>
                  <a:lnTo>
                    <a:pt x="2555" y="21600"/>
                  </a:lnTo>
                  <a:lnTo>
                    <a:pt x="2234" y="21572"/>
                  </a:lnTo>
                  <a:lnTo>
                    <a:pt x="1926" y="21490"/>
                  </a:lnTo>
                  <a:lnTo>
                    <a:pt x="1631" y="21358"/>
                  </a:lnTo>
                  <a:lnTo>
                    <a:pt x="1354" y="21178"/>
                  </a:lnTo>
                  <a:lnTo>
                    <a:pt x="1095" y="20955"/>
                  </a:lnTo>
                  <a:lnTo>
                    <a:pt x="858" y="20691"/>
                  </a:lnTo>
                  <a:lnTo>
                    <a:pt x="645" y="20390"/>
                  </a:lnTo>
                  <a:lnTo>
                    <a:pt x="458" y="20056"/>
                  </a:lnTo>
                  <a:lnTo>
                    <a:pt x="299" y="19692"/>
                  </a:lnTo>
                  <a:lnTo>
                    <a:pt x="172" y="19301"/>
                  </a:lnTo>
                  <a:lnTo>
                    <a:pt x="78" y="18886"/>
                  </a:lnTo>
                  <a:lnTo>
                    <a:pt x="20" y="18451"/>
                  </a:lnTo>
                  <a:lnTo>
                    <a:pt x="0" y="17999"/>
                  </a:lnTo>
                  <a:lnTo>
                    <a:pt x="0" y="3599"/>
                  </a:lnTo>
                  <a:close/>
                </a:path>
              </a:pathLst>
            </a:custGeom>
            <a:noFill/>
            <a:ln w="12700" cap="flat">
              <a:solidFill>
                <a:srgbClr val="172C5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pic>
          <p:nvPicPr>
            <p:cNvPr id="129" name="object 11" descr="object 11"/>
            <p:cNvPicPr>
              <a:picLocks noChangeAspect="1"/>
            </p:cNvPicPr>
            <p:nvPr/>
          </p:nvPicPr>
          <p:blipFill>
            <a:blip r:embed="rId5">
              <a:alphaModFix amt="0"/>
              <a:extLst/>
            </a:blip>
            <a:stretch>
              <a:fillRect/>
            </a:stretch>
          </p:blipFill>
          <p:spPr>
            <a:xfrm>
              <a:off x="0" y="2328861"/>
              <a:ext cx="3443352" cy="13429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" name="signup_page.png" descr="signup_page.png"/>
            <p:cNvPicPr>
              <a:picLocks noChangeAspect="1"/>
            </p:cNvPicPr>
            <p:nvPr/>
          </p:nvPicPr>
          <p:blipFill>
            <a:blip r:embed="rId6">
              <a:extLst/>
            </a:blip>
            <a:srcRect l="4567" t="0" r="4567" b="0"/>
            <a:stretch>
              <a:fillRect/>
            </a:stretch>
          </p:blipFill>
          <p:spPr>
            <a:xfrm>
              <a:off x="28575" y="4699"/>
              <a:ext cx="3390901" cy="23431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2" name="object 12"/>
          <p:cNvSpPr txBox="1"/>
          <p:nvPr/>
        </p:nvSpPr>
        <p:spPr>
          <a:xfrm>
            <a:off x="4786376" y="6578111"/>
            <a:ext cx="26295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5425">
              <a:defRPr sz="900">
                <a:solidFill>
                  <a:srgbClr val="888888"/>
                </a:solidFill>
              </a:defRPr>
            </a:pPr>
            <a:r>
              <a:t>Final</a:t>
            </a:r>
            <a:r>
              <a:rPr spc="90"/>
              <a:t> </a:t>
            </a:r>
            <a:r>
              <a:t>Review,</a:t>
            </a:r>
            <a:r>
              <a:rPr spc="30"/>
              <a:t> </a:t>
            </a:r>
            <a:r>
              <a:t>CSD</a:t>
            </a:r>
            <a:r>
              <a:rPr spc="110"/>
              <a:t> </a:t>
            </a:r>
            <a:r>
              <a:t>334</a:t>
            </a:r>
            <a:r>
              <a:rPr spc="95"/>
              <a:t> </a:t>
            </a:r>
            <a:r>
              <a:t>-</a:t>
            </a:r>
            <a:r>
              <a:rPr spc="100"/>
              <a:t> </a:t>
            </a:r>
            <a:r>
              <a:t>MINI</a:t>
            </a:r>
            <a:r>
              <a:rPr spc="120"/>
              <a:t> </a:t>
            </a:r>
            <a:r>
              <a:rPr spc="-10"/>
              <a:t>PROJECT</a:t>
            </a:r>
          </a:p>
        </p:txBody>
      </p:sp>
      <p:sp>
        <p:nvSpPr>
          <p:cNvPr id="133" name="object 10"/>
          <p:cNvSpPr txBox="1"/>
          <p:nvPr/>
        </p:nvSpPr>
        <p:spPr>
          <a:xfrm>
            <a:off x="917575" y="6451048"/>
            <a:ext cx="777739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10" sz="1200">
                <a:solidFill>
                  <a:srgbClr val="888888"/>
                </a:solidFill>
              </a:defRPr>
            </a:lvl1pPr>
          </a:lstStyle>
          <a:p>
            <a:pPr/>
            <a:r>
              <a:t>06/04/2026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itle 1"/>
          <p:cNvSpPr txBox="1"/>
          <p:nvPr>
            <p:ph type="title"/>
          </p:nvPr>
        </p:nvSpPr>
        <p:spPr>
          <a:xfrm>
            <a:off x="838200" y="21093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  <a:latin typeface="Sitka Small Semibold"/>
                <a:ea typeface="Sitka Small Semibold"/>
                <a:cs typeface="Sitka Small Semibold"/>
                <a:sym typeface="Sitka Small Semibold"/>
              </a:defRPr>
            </a:lvl1pPr>
          </a:lstStyle>
          <a:p>
            <a:pPr/>
            <a:r>
              <a:t>Literature Review</a:t>
            </a:r>
          </a:p>
        </p:txBody>
      </p:sp>
      <p:sp>
        <p:nvSpPr>
          <p:cNvPr id="138" name="Slide Number Placeholder 5"/>
          <p:cNvSpPr txBox="1"/>
          <p:nvPr>
            <p:ph type="sldNum" sz="quarter" idx="2"/>
          </p:nvPr>
        </p:nvSpPr>
        <p:spPr>
          <a:xfrm>
            <a:off x="11173459" y="6401179"/>
            <a:ext cx="180341" cy="2754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9" name="图片" descr="图片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40" name="object 3"/>
          <p:cNvGraphicFramePr/>
          <p:nvPr/>
        </p:nvGraphicFramePr>
        <p:xfrm>
          <a:off x="209956" y="1329436"/>
          <a:ext cx="11398251" cy="518028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676275"/>
                <a:gridCol w="2980690"/>
                <a:gridCol w="1334135"/>
                <a:gridCol w="2860675"/>
                <a:gridCol w="3533775"/>
              </a:tblGrid>
              <a:tr h="379229">
                <a:tc>
                  <a:txBody>
                    <a:bodyPr/>
                    <a:lstStyle/>
                    <a:p>
                      <a:pPr indent="107314" algn="l">
                        <a:spcBef>
                          <a:spcPts val="400"/>
                        </a:spcBef>
                        <a:defRPr b="1" sz="1500">
                          <a:solidFill>
                            <a:srgbClr val="001F5F"/>
                          </a:solidFill>
                        </a:defRPr>
                      </a:pPr>
                      <a:r>
                        <a:t>S.</a:t>
                      </a:r>
                      <a:r>
                        <a:rPr spc="70"/>
                        <a:t> </a:t>
                      </a:r>
                      <a:r>
                        <a:rPr spc="-35"/>
                        <a:t>No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defRPr sz="1800"/>
                      </a:pPr>
                      <a:r>
                        <a:rPr b="1" spc="-10" sz="1500">
                          <a:solidFill>
                            <a:srgbClr val="001F5F"/>
                          </a:solidFill>
                        </a:rPr>
                        <a:t>Title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defRPr sz="1800"/>
                      </a:pPr>
                      <a:r>
                        <a:rPr b="1" spc="-10" sz="1500">
                          <a:solidFill>
                            <a:srgbClr val="001F5F"/>
                          </a:solidFill>
                        </a:rPr>
                        <a:t>Authors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indent="133985" algn="l">
                        <a:spcBef>
                          <a:spcPts val="400"/>
                        </a:spcBef>
                        <a:defRPr b="1" sz="1500">
                          <a:solidFill>
                            <a:srgbClr val="001F5F"/>
                          </a:solidFill>
                        </a:defRPr>
                      </a:pPr>
                      <a:r>
                        <a:t>Journal</a:t>
                      </a:r>
                      <a:r>
                        <a:rPr spc="110"/>
                        <a:t> </a:t>
                      </a:r>
                      <a:r>
                        <a:t>&amp;</a:t>
                      </a:r>
                      <a:r>
                        <a:rPr spc="-25"/>
                        <a:t> Year</a:t>
                      </a:r>
                      <a:r>
                        <a:rPr spc="-10"/>
                        <a:t> </a:t>
                      </a:r>
                      <a:r>
                        <a:t>of</a:t>
                      </a:r>
                      <a:r>
                        <a:rPr spc="100"/>
                        <a:t> </a:t>
                      </a:r>
                      <a:r>
                        <a:rPr spc="-10"/>
                        <a:t>publication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indent="13334" algn="ctr">
                        <a:spcBef>
                          <a:spcPts val="400"/>
                        </a:spcBef>
                        <a:defRPr b="1" sz="1500">
                          <a:solidFill>
                            <a:srgbClr val="001F5F"/>
                          </a:solidFill>
                        </a:defRPr>
                      </a:pPr>
                      <a:r>
                        <a:t>Key</a:t>
                      </a:r>
                      <a:r>
                        <a:rPr spc="75"/>
                        <a:t> </a:t>
                      </a:r>
                      <a:r>
                        <a:rPr spc="-10"/>
                        <a:t>Points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</a:tr>
              <a:tr h="900510">
                <a:tc>
                  <a:txBody>
                    <a:bodyPr/>
                    <a:lstStyle/>
                    <a:p>
                      <a:pPr algn="ctr">
                        <a:spcBef>
                          <a:spcPts val="1500"/>
                        </a:spcBef>
                        <a:defRPr sz="1800"/>
                      </a:pPr>
                      <a:r>
                        <a:rPr spc="-50" sz="1400"/>
                        <a:t>1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173354" indent="92075" algn="l">
                        <a:lnSpc>
                          <a:spcPts val="1600"/>
                        </a:lnSpc>
                        <a:spcBef>
                          <a:spcPts val="300"/>
                        </a:spcBef>
                        <a:defRPr sz="1400"/>
                      </a:pPr>
                      <a:r>
                        <a:t>Communicating</a:t>
                      </a:r>
                      <a:r>
                        <a:rPr spc="-35"/>
                        <a:t> </a:t>
                      </a:r>
                      <a:r>
                        <a:t>and</a:t>
                      </a:r>
                      <a:r>
                        <a:rPr spc="-35"/>
                        <a:t> </a:t>
                      </a:r>
                      <a:r>
                        <a:rPr spc="-10"/>
                        <a:t>Displaying</a:t>
                      </a:r>
                      <a:r>
                        <a:rPr spc="-35"/>
                        <a:t> </a:t>
                      </a:r>
                      <a:r>
                        <a:rPr spc="-20"/>
                        <a:t>Real- </a:t>
                      </a:r>
                      <a:r>
                        <a:rPr spc="-10"/>
                        <a:t>Time</a:t>
                      </a:r>
                      <a:r>
                        <a:rPr spc="-30"/>
                        <a:t> </a:t>
                      </a:r>
                      <a:r>
                        <a:t>Data</a:t>
                      </a:r>
                      <a:r>
                        <a:rPr spc="-30"/>
                        <a:t> </a:t>
                      </a:r>
                      <a:r>
                        <a:t>with</a:t>
                      </a:r>
                      <a:r>
                        <a:rPr spc="-40"/>
                        <a:t> </a:t>
                      </a:r>
                      <a:r>
                        <a:rPr spc="-10"/>
                        <a:t>WebSocket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158750" indent="94614" algn="l">
                        <a:lnSpc>
                          <a:spcPts val="1600"/>
                        </a:lnSpc>
                        <a:spcBef>
                          <a:spcPts val="300"/>
                        </a:spcBef>
                        <a:defRPr sz="1400"/>
                      </a:pPr>
                      <a:r>
                        <a:t>Pimentel</a:t>
                      </a:r>
                      <a:r>
                        <a:rPr spc="-70"/>
                        <a:t> </a:t>
                      </a:r>
                      <a:r>
                        <a:rPr spc="-25"/>
                        <a:t>V., </a:t>
                      </a:r>
                      <a:r>
                        <a:t>Nickerson</a:t>
                      </a:r>
                      <a:r>
                        <a:rPr spc="-30"/>
                        <a:t> </a:t>
                      </a:r>
                      <a:r>
                        <a:rPr spc="-25"/>
                        <a:t>B.G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161289" indent="95250" algn="l">
                        <a:lnSpc>
                          <a:spcPts val="1600"/>
                        </a:lnSpc>
                        <a:spcBef>
                          <a:spcPts val="300"/>
                        </a:spcBef>
                        <a:defRPr sz="1400"/>
                      </a:pPr>
                      <a:r>
                        <a:t>EEE</a:t>
                      </a:r>
                      <a:r>
                        <a:rPr spc="-15"/>
                        <a:t> </a:t>
                      </a:r>
                      <a:r>
                        <a:rPr spc="-10"/>
                        <a:t>Internet</a:t>
                      </a:r>
                      <a:r>
                        <a:rPr spc="-60"/>
                        <a:t> </a:t>
                      </a:r>
                      <a:r>
                        <a:t>Computing (2012)</a:t>
                      </a:r>
                      <a:r>
                        <a:rPr spc="-70"/>
                        <a:t> </a:t>
                      </a:r>
                      <a:r>
                        <a:rPr spc="-20"/>
                        <a:t>vol. </a:t>
                      </a:r>
                      <a:r>
                        <a:t>16(4),</a:t>
                      </a:r>
                      <a:r>
                        <a:rPr spc="-15"/>
                        <a:t> </a:t>
                      </a:r>
                      <a:r>
                        <a:t>pp.</a:t>
                      </a:r>
                      <a:r>
                        <a:rPr spc="-15"/>
                        <a:t> </a:t>
                      </a:r>
                      <a:r>
                        <a:rPr spc="-20"/>
                        <a:t>45-</a:t>
                      </a:r>
                      <a:r>
                        <a:rPr spc="-25"/>
                        <a:t>53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383540" marR="160020" indent="-286384" algn="l">
                        <a:lnSpc>
                          <a:spcPct val="100600"/>
                        </a:lnSpc>
                        <a:spcBef>
                          <a:spcPts val="300"/>
                        </a:spcBef>
                        <a:buSzPct val="100000"/>
                        <a:buFont typeface="Arial"/>
                        <a:buChar char="•"/>
                        <a:tabLst>
                          <a:tab pos="381000" algn="l"/>
                        </a:tabLst>
                        <a:defRPr sz="1400"/>
                      </a:pPr>
                      <a:r>
                        <a:t>•</a:t>
                      </a:r>
                      <a:r>
                        <a:rPr spc="-45"/>
                        <a:t> </a:t>
                      </a:r>
                      <a:r>
                        <a:rPr spc="-20"/>
                        <a:t>WebSocket</a:t>
                      </a:r>
                      <a:r>
                        <a:rPr spc="-10"/>
                        <a:t> </a:t>
                      </a:r>
                      <a:r>
                        <a:t>faster</a:t>
                      </a:r>
                      <a:r>
                        <a:rPr spc="-90"/>
                        <a:t> </a:t>
                      </a:r>
                      <a:r>
                        <a:t>than</a:t>
                      </a:r>
                      <a:r>
                        <a:rPr spc="-30"/>
                        <a:t> </a:t>
                      </a:r>
                      <a:r>
                        <a:t>HTTP</a:t>
                      </a:r>
                      <a:r>
                        <a:rPr spc="-35"/>
                        <a:t> </a:t>
                      </a:r>
                      <a:r>
                        <a:t>polling</a:t>
                      </a:r>
                      <a:r>
                        <a:rPr spc="-30"/>
                        <a:t> </a:t>
                      </a:r>
                      <a:r>
                        <a:rPr spc="-25"/>
                        <a:t>for </a:t>
                      </a:r>
                      <a:r>
                        <a:rPr spc="-10"/>
                        <a:t>real-</a:t>
                      </a:r>
                      <a:r>
                        <a:t>time</a:t>
                      </a:r>
                      <a:r>
                        <a:rPr spc="10"/>
                        <a:t> </a:t>
                      </a:r>
                      <a:r>
                        <a:t>data</a:t>
                      </a:r>
                      <a:r>
                        <a:rPr spc="15"/>
                        <a:t> </a:t>
                      </a:r>
                      <a:r>
                        <a:rPr spc="-10"/>
                        <a:t>transfer</a:t>
                      </a:r>
                      <a:r>
                        <a:rPr spc="-60"/>
                        <a:t> </a:t>
                      </a:r>
                      <a:r>
                        <a:t>with </a:t>
                      </a:r>
                      <a:r>
                        <a:rPr spc="-10"/>
                        <a:t>reduced latency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</a:tr>
              <a:tr h="938560">
                <a:tc>
                  <a:txBody>
                    <a:bodyPr/>
                    <a:lstStyle/>
                    <a:p>
                      <a:pPr algn="ctr">
                        <a:spcBef>
                          <a:spcPts val="1500"/>
                        </a:spcBef>
                        <a:defRPr sz="1800"/>
                      </a:pPr>
                      <a:r>
                        <a:rPr spc="-50" sz="1400"/>
                        <a:t>2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indent="92075" algn="l">
                        <a:spcBef>
                          <a:spcPts val="200"/>
                        </a:spcBef>
                        <a:defRPr sz="1400"/>
                      </a:pPr>
                      <a:r>
                        <a:t>The</a:t>
                      </a:r>
                      <a:r>
                        <a:rPr spc="-90"/>
                        <a:t> </a:t>
                      </a:r>
                      <a:r>
                        <a:rPr spc="-10"/>
                        <a:t>WebSocket</a:t>
                      </a:r>
                      <a:r>
                        <a:rPr spc="-25"/>
                        <a:t> </a:t>
                      </a:r>
                      <a:r>
                        <a:rPr spc="-10"/>
                        <a:t>Protocol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R="329565" indent="94614" algn="l">
                        <a:lnSpc>
                          <a:spcPts val="1600"/>
                        </a:lnSpc>
                        <a:spcBef>
                          <a:spcPts val="300"/>
                        </a:spcBef>
                        <a:defRPr sz="1400"/>
                      </a:pPr>
                      <a:r>
                        <a:t>Fette</a:t>
                      </a:r>
                      <a:r>
                        <a:rPr spc="-25"/>
                        <a:t> I., </a:t>
                      </a:r>
                      <a:r>
                        <a:rPr spc="-10"/>
                        <a:t>Melnikov</a:t>
                      </a:r>
                      <a:r>
                        <a:rPr spc="-90"/>
                        <a:t> </a:t>
                      </a:r>
                      <a:r>
                        <a:rPr spc="-35"/>
                        <a:t>A.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indent="95250" algn="l">
                        <a:spcBef>
                          <a:spcPts val="200"/>
                        </a:spcBef>
                        <a:defRPr sz="1400"/>
                      </a:pPr>
                      <a:r>
                        <a:t>RFC</a:t>
                      </a:r>
                      <a:r>
                        <a:rPr spc="-45"/>
                        <a:t> </a:t>
                      </a:r>
                      <a:r>
                        <a:t>6455,</a:t>
                      </a:r>
                      <a:r>
                        <a:rPr spc="20"/>
                        <a:t> </a:t>
                      </a:r>
                      <a:r>
                        <a:t>IETF</a:t>
                      </a:r>
                      <a:r>
                        <a:rPr spc="-40"/>
                        <a:t> </a:t>
                      </a:r>
                      <a:r>
                        <a:rPr spc="-10"/>
                        <a:t>(2011)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83540" marR="247650" indent="-286384" algn="l">
                        <a:lnSpc>
                          <a:spcPct val="100600"/>
                        </a:lnSpc>
                        <a:spcBef>
                          <a:spcPts val="200"/>
                        </a:spcBef>
                        <a:buSzPct val="100000"/>
                        <a:buFont typeface="Arial"/>
                        <a:buChar char="•"/>
                        <a:tabLst>
                          <a:tab pos="381000" algn="l"/>
                        </a:tabLst>
                        <a:defRPr sz="1400"/>
                      </a:pPr>
                      <a:r>
                        <a:t>Standard</a:t>
                      </a:r>
                      <a:r>
                        <a:rPr spc="-50"/>
                        <a:t> </a:t>
                      </a:r>
                      <a:r>
                        <a:t>protocol</a:t>
                      </a:r>
                      <a:r>
                        <a:rPr spc="-35"/>
                        <a:t> </a:t>
                      </a:r>
                      <a:r>
                        <a:t>for</a:t>
                      </a:r>
                      <a:r>
                        <a:rPr spc="-40"/>
                        <a:t> </a:t>
                      </a:r>
                      <a:r>
                        <a:t>bi-directional</a:t>
                      </a:r>
                      <a:r>
                        <a:rPr spc="-40"/>
                        <a:t> </a:t>
                      </a:r>
                      <a:r>
                        <a:rPr spc="-20"/>
                        <a:t>real- </a:t>
                      </a:r>
                      <a:r>
                        <a:t>time</a:t>
                      </a:r>
                      <a:r>
                        <a:rPr spc="-40"/>
                        <a:t> </a:t>
                      </a:r>
                      <a:r>
                        <a:t>communication</a:t>
                      </a:r>
                      <a:r>
                        <a:rPr spc="-30"/>
                        <a:t> </a:t>
                      </a:r>
                      <a:r>
                        <a:t>over</a:t>
                      </a:r>
                      <a:r>
                        <a:rPr spc="-20"/>
                        <a:t> </a:t>
                      </a:r>
                      <a:r>
                        <a:rPr spc="-10"/>
                        <a:t>single</a:t>
                      </a:r>
                      <a:r>
                        <a:rPr spc="-85"/>
                        <a:t> </a:t>
                      </a:r>
                      <a:r>
                        <a:rPr spc="-25"/>
                        <a:t>TCP </a:t>
                      </a:r>
                      <a:r>
                        <a:rPr spc="-10"/>
                        <a:t>connection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AEEF7"/>
                    </a:solidFill>
                  </a:tcPr>
                </a:tc>
              </a:tr>
              <a:tr h="821468">
                <a:tc>
                  <a:txBody>
                    <a:bodyPr/>
                    <a:lstStyle/>
                    <a:p>
                      <a:pPr algn="ctr">
                        <a:spcBef>
                          <a:spcPts val="1500"/>
                        </a:spcBef>
                        <a:defRPr sz="1800"/>
                      </a:pPr>
                      <a:r>
                        <a:rPr spc="-50" sz="1400"/>
                        <a:t>3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indent="92075" algn="l">
                        <a:spcBef>
                          <a:spcPts val="200"/>
                        </a:spcBef>
                        <a:defRPr sz="1400"/>
                      </a:pPr>
                      <a:r>
                        <a:t>JSON</a:t>
                      </a:r>
                      <a:r>
                        <a:rPr spc="-60"/>
                        <a:t> </a:t>
                      </a:r>
                      <a:r>
                        <a:rPr spc="-35"/>
                        <a:t>Web</a:t>
                      </a:r>
                      <a:r>
                        <a:rPr spc="-90"/>
                        <a:t> </a:t>
                      </a:r>
                      <a:r>
                        <a:rPr spc="-20"/>
                        <a:t>Token</a:t>
                      </a:r>
                      <a:r>
                        <a:rPr spc="-30"/>
                        <a:t> </a:t>
                      </a:r>
                      <a:r>
                        <a:rPr spc="-10"/>
                        <a:t>(JWT)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R="327025" indent="94614" algn="l">
                        <a:lnSpc>
                          <a:spcPct val="100600"/>
                        </a:lnSpc>
                        <a:spcBef>
                          <a:spcPts val="200"/>
                        </a:spcBef>
                        <a:defRPr sz="1400"/>
                      </a:pPr>
                      <a:r>
                        <a:t>Jones</a:t>
                      </a:r>
                      <a:r>
                        <a:rPr spc="-60"/>
                        <a:t> </a:t>
                      </a:r>
                      <a:r>
                        <a:rPr spc="-25"/>
                        <a:t>M., </a:t>
                      </a:r>
                      <a:r>
                        <a:t>Bradley</a:t>
                      </a:r>
                      <a:r>
                        <a:rPr spc="-35"/>
                        <a:t> </a:t>
                      </a:r>
                      <a:r>
                        <a:rPr spc="-25"/>
                        <a:t>J., </a:t>
                      </a:r>
                      <a:r>
                        <a:t>Sakimura</a:t>
                      </a:r>
                      <a:r>
                        <a:rPr spc="-45"/>
                        <a:t> </a:t>
                      </a:r>
                      <a:r>
                        <a:rPr spc="-25"/>
                        <a:t>N.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indent="95250" algn="l">
                        <a:spcBef>
                          <a:spcPts val="200"/>
                        </a:spcBef>
                        <a:defRPr sz="1400"/>
                      </a:pPr>
                      <a:r>
                        <a:t>RFC</a:t>
                      </a:r>
                      <a:r>
                        <a:rPr spc="-45"/>
                        <a:t> </a:t>
                      </a:r>
                      <a:r>
                        <a:t>7519,</a:t>
                      </a:r>
                      <a:r>
                        <a:rPr spc="20"/>
                        <a:t> </a:t>
                      </a:r>
                      <a:r>
                        <a:t>IETF</a:t>
                      </a:r>
                      <a:r>
                        <a:rPr spc="-40"/>
                        <a:t> </a:t>
                      </a:r>
                      <a:r>
                        <a:rPr spc="-10"/>
                        <a:t>(2015)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346075" indent="-286384" algn="l">
                        <a:lnSpc>
                          <a:spcPts val="1600"/>
                        </a:lnSpc>
                        <a:buSzPct val="100000"/>
                        <a:buFont typeface="Arial"/>
                        <a:buChar char="•"/>
                        <a:tabLst>
                          <a:tab pos="342900" algn="l"/>
                        </a:tabLst>
                        <a:defRPr sz="1400"/>
                      </a:pPr>
                      <a:r>
                        <a:t>Stateless</a:t>
                      </a:r>
                      <a:r>
                        <a:rPr spc="-40"/>
                        <a:t> </a:t>
                      </a:r>
                      <a:r>
                        <a:t>authentication</a:t>
                      </a:r>
                      <a:r>
                        <a:rPr spc="-45"/>
                        <a:t> </a:t>
                      </a:r>
                      <a:r>
                        <a:t>tokens</a:t>
                      </a:r>
                      <a:r>
                        <a:rPr spc="-40"/>
                        <a:t> </a:t>
                      </a:r>
                      <a:r>
                        <a:t>for</a:t>
                      </a:r>
                      <a:r>
                        <a:rPr spc="-35"/>
                        <a:t> </a:t>
                      </a:r>
                      <a:r>
                        <a:rPr spc="-10"/>
                        <a:t>scalable</a:t>
                      </a:r>
                    </a:p>
                    <a:p>
                      <a:pPr indent="346075" algn="l">
                        <a:spcBef>
                          <a:spcPts val="100"/>
                        </a:spcBef>
                        <a:defRPr sz="1400"/>
                      </a:pPr>
                      <a:r>
                        <a:t>web</a:t>
                      </a:r>
                      <a:r>
                        <a:rPr spc="-15"/>
                        <a:t> </a:t>
                      </a:r>
                      <a:r>
                        <a:rPr spc="-10"/>
                        <a:t>applications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</a:tr>
              <a:tr h="1151004">
                <a:tc>
                  <a:txBody>
                    <a:bodyPr/>
                    <a:lstStyle/>
                    <a:p>
                      <a:pPr algn="ctr">
                        <a:spcBef>
                          <a:spcPts val="1500"/>
                        </a:spcBef>
                        <a:defRPr sz="1800"/>
                      </a:pPr>
                      <a:r>
                        <a:rPr spc="-50" sz="1400"/>
                        <a:t>4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R="191770" indent="92075" algn="l">
                        <a:lnSpc>
                          <a:spcPct val="100499"/>
                        </a:lnSpc>
                        <a:spcBef>
                          <a:spcPts val="300"/>
                        </a:spcBef>
                        <a:defRPr sz="1400"/>
                      </a:pPr>
                      <a:r>
                        <a:t>How</a:t>
                      </a:r>
                      <a:r>
                        <a:rPr spc="-90"/>
                        <a:t> </a:t>
                      </a:r>
                      <a:r>
                        <a:rPr spc="-10"/>
                        <a:t>Does</a:t>
                      </a:r>
                      <a:r>
                        <a:rPr spc="-85"/>
                        <a:t> </a:t>
                      </a:r>
                      <a:r>
                        <a:rPr spc="-10"/>
                        <a:t>Your</a:t>
                      </a:r>
                      <a:r>
                        <a:rPr spc="-40"/>
                        <a:t> </a:t>
                      </a:r>
                      <a:r>
                        <a:t>Password</a:t>
                      </a:r>
                      <a:r>
                        <a:rPr spc="-50"/>
                        <a:t> </a:t>
                      </a:r>
                      <a:r>
                        <a:rPr spc="-10"/>
                        <a:t>Measure </a:t>
                      </a:r>
                      <a:r>
                        <a:t>Up?</a:t>
                      </a:r>
                      <a:r>
                        <a:rPr spc="-90"/>
                        <a:t> </a:t>
                      </a:r>
                      <a:r>
                        <a:t>The</a:t>
                      </a:r>
                      <a:r>
                        <a:rPr spc="-35"/>
                        <a:t> </a:t>
                      </a:r>
                      <a:r>
                        <a:t>Effect</a:t>
                      </a:r>
                      <a:r>
                        <a:rPr spc="-15"/>
                        <a:t> </a:t>
                      </a:r>
                      <a:r>
                        <a:t>of</a:t>
                      </a:r>
                      <a:r>
                        <a:rPr spc="-20"/>
                        <a:t> </a:t>
                      </a:r>
                      <a:r>
                        <a:t>Strength</a:t>
                      </a:r>
                      <a:r>
                        <a:rPr spc="-30"/>
                        <a:t> </a:t>
                      </a:r>
                      <a:r>
                        <a:t>Meters</a:t>
                      </a:r>
                      <a:r>
                        <a:rPr spc="-25"/>
                        <a:t> on </a:t>
                      </a:r>
                      <a:r>
                        <a:t>Password</a:t>
                      </a:r>
                      <a:r>
                        <a:rPr spc="-85"/>
                        <a:t> </a:t>
                      </a:r>
                      <a:r>
                        <a:rPr spc="-10"/>
                        <a:t>Creation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indent="94614" algn="l">
                        <a:lnSpc>
                          <a:spcPts val="1600"/>
                        </a:lnSpc>
                        <a:spcBef>
                          <a:spcPts val="300"/>
                        </a:spcBef>
                        <a:defRPr sz="1400"/>
                      </a:pPr>
                      <a:r>
                        <a:t>Ur</a:t>
                      </a:r>
                      <a:r>
                        <a:rPr spc="-35"/>
                        <a:t> </a:t>
                      </a:r>
                      <a:r>
                        <a:t>B.,</a:t>
                      </a:r>
                      <a:r>
                        <a:rPr spc="10"/>
                        <a:t> </a:t>
                      </a:r>
                      <a:r>
                        <a:rPr spc="-10"/>
                        <a:t>Kelley</a:t>
                      </a:r>
                    </a:p>
                    <a:p>
                      <a:pPr indent="94614" algn="l">
                        <a:lnSpc>
                          <a:spcPts val="1600"/>
                        </a:lnSpc>
                        <a:defRPr spc="-10" sz="1400"/>
                      </a:pPr>
                      <a:r>
                        <a:t>P.G.,</a:t>
                      </a:r>
                    </a:p>
                    <a:p>
                      <a:pPr marR="186689" indent="94614" algn="l">
                        <a:lnSpc>
                          <a:spcPts val="1600"/>
                        </a:lnSpc>
                        <a:spcBef>
                          <a:spcPts val="100"/>
                        </a:spcBef>
                        <a:defRPr sz="1400"/>
                      </a:pPr>
                      <a:r>
                        <a:t>Komanduri</a:t>
                      </a:r>
                      <a:r>
                        <a:rPr spc="-45"/>
                        <a:t> </a:t>
                      </a:r>
                      <a:r>
                        <a:rPr spc="-25"/>
                        <a:t>S., </a:t>
                      </a:r>
                      <a:r>
                        <a:t>et</a:t>
                      </a:r>
                      <a:r>
                        <a:rPr spc="-25"/>
                        <a:t> al.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indent="95250" algn="l">
                        <a:lnSpc>
                          <a:spcPts val="1600"/>
                        </a:lnSpc>
                        <a:spcBef>
                          <a:spcPts val="300"/>
                        </a:spcBef>
                        <a:defRPr sz="1400"/>
                      </a:pPr>
                      <a:r>
                        <a:t>USENIX</a:t>
                      </a:r>
                      <a:r>
                        <a:rPr spc="-55"/>
                        <a:t> </a:t>
                      </a:r>
                      <a:r>
                        <a:t>Security</a:t>
                      </a:r>
                      <a:r>
                        <a:rPr spc="-35"/>
                        <a:t> </a:t>
                      </a:r>
                      <a:r>
                        <a:rPr spc="-10"/>
                        <a:t>Symposium</a:t>
                      </a:r>
                    </a:p>
                    <a:p>
                      <a:pPr indent="95250" algn="l">
                        <a:lnSpc>
                          <a:spcPts val="1600"/>
                        </a:lnSpc>
                        <a:defRPr sz="1400"/>
                      </a:pPr>
                      <a:r>
                        <a:t>(2015)</a:t>
                      </a:r>
                      <a:r>
                        <a:rPr spc="-75"/>
                        <a:t> </a:t>
                      </a:r>
                      <a:r>
                        <a:t>pp.</a:t>
                      </a:r>
                      <a:r>
                        <a:rPr spc="-25"/>
                        <a:t> </a:t>
                      </a:r>
                      <a:r>
                        <a:t>65-</a:t>
                      </a:r>
                      <a:r>
                        <a:rPr spc="-25"/>
                        <a:t>80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46075" indent="-286384" algn="l">
                        <a:lnSpc>
                          <a:spcPts val="1600"/>
                        </a:lnSpc>
                        <a:buSzPct val="100000"/>
                        <a:buFont typeface="Arial"/>
                        <a:buChar char="•"/>
                        <a:tabLst>
                          <a:tab pos="342900" algn="l"/>
                        </a:tabLst>
                        <a:defRPr spc="-10" sz="1400"/>
                      </a:pPr>
                      <a:r>
                        <a:t>Real-</a:t>
                      </a:r>
                      <a:r>
                        <a:rPr spc="0"/>
                        <a:t>time</a:t>
                      </a:r>
                      <a:r>
                        <a:rPr spc="-40"/>
                        <a:t> </a:t>
                      </a:r>
                      <a:r>
                        <a:rPr spc="0"/>
                        <a:t>password</a:t>
                      </a:r>
                      <a:r>
                        <a:rPr spc="-50"/>
                        <a:t> </a:t>
                      </a:r>
                      <a:r>
                        <a:rPr spc="0"/>
                        <a:t>feedback</a:t>
                      </a:r>
                      <a:r>
                        <a:rPr spc="-45"/>
                        <a:t> </a:t>
                      </a:r>
                      <a:r>
                        <a:t>increases</a:t>
                      </a:r>
                    </a:p>
                    <a:p>
                      <a:pPr indent="346075" algn="l">
                        <a:spcBef>
                          <a:spcPts val="100"/>
                        </a:spcBef>
                        <a:defRPr sz="1400"/>
                      </a:pPr>
                      <a:r>
                        <a:t>strong</a:t>
                      </a:r>
                      <a:r>
                        <a:rPr spc="-60"/>
                        <a:t> </a:t>
                      </a:r>
                      <a:r>
                        <a:t>passwords</a:t>
                      </a:r>
                      <a:r>
                        <a:rPr spc="-50"/>
                        <a:t> </a:t>
                      </a:r>
                      <a:r>
                        <a:t>by</a:t>
                      </a:r>
                      <a:r>
                        <a:rPr spc="-55"/>
                        <a:t> </a:t>
                      </a:r>
                      <a:r>
                        <a:rPr spc="-25"/>
                        <a:t>26%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AEEF7"/>
                    </a:solidFill>
                  </a:tcPr>
                </a:tc>
              </a:tr>
              <a:tr h="977877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defRPr sz="1800"/>
                      </a:pPr>
                      <a:r>
                        <a:rPr spc="-50" sz="1400"/>
                        <a:t>5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indent="92075" algn="l">
                        <a:lnSpc>
                          <a:spcPts val="1600"/>
                        </a:lnSpc>
                        <a:spcBef>
                          <a:spcPts val="300"/>
                        </a:spcBef>
                        <a:defRPr spc="-10" sz="1400"/>
                      </a:pPr>
                      <a:r>
                        <a:t>Microservices</a:t>
                      </a:r>
                      <a:r>
                        <a:rPr spc="-15"/>
                        <a:t> </a:t>
                      </a:r>
                      <a:r>
                        <a:t>Architecture: </a:t>
                      </a:r>
                      <a:r>
                        <a:rPr spc="-50"/>
                        <a:t>A</a:t>
                      </a:r>
                    </a:p>
                    <a:p>
                      <a:pPr indent="92075" algn="l">
                        <a:lnSpc>
                          <a:spcPts val="1600"/>
                        </a:lnSpc>
                        <a:defRPr sz="1400"/>
                      </a:pPr>
                      <a:r>
                        <a:t>Systematic</a:t>
                      </a:r>
                      <a:r>
                        <a:rPr spc="-50"/>
                        <a:t> </a:t>
                      </a:r>
                      <a:r>
                        <a:t>Literature</a:t>
                      </a:r>
                      <a:r>
                        <a:rPr spc="-50"/>
                        <a:t> </a:t>
                      </a:r>
                      <a:r>
                        <a:rPr spc="-10"/>
                        <a:t>Review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indent="94614" algn="l">
                        <a:lnSpc>
                          <a:spcPts val="1600"/>
                        </a:lnSpc>
                        <a:spcBef>
                          <a:spcPts val="300"/>
                        </a:spcBef>
                        <a:defRPr spc="-10" sz="1400"/>
                      </a:pPr>
                      <a:r>
                        <a:t>Alshuqayran</a:t>
                      </a:r>
                    </a:p>
                    <a:p>
                      <a:pPr indent="94614" algn="l">
                        <a:lnSpc>
                          <a:spcPts val="1600"/>
                        </a:lnSpc>
                        <a:defRPr spc="-10" sz="1400"/>
                      </a:pPr>
                      <a:r>
                        <a:t>N.,</a:t>
                      </a:r>
                      <a:r>
                        <a:rPr spc="-104"/>
                        <a:t> </a:t>
                      </a:r>
                      <a:r>
                        <a:rPr spc="0"/>
                        <a:t>Ali</a:t>
                      </a:r>
                      <a:r>
                        <a:rPr spc="10"/>
                        <a:t> </a:t>
                      </a:r>
                      <a:r>
                        <a:rPr spc="-25"/>
                        <a:t>N.,</a:t>
                      </a:r>
                    </a:p>
                    <a:p>
                      <a:pPr indent="94614" algn="l">
                        <a:defRPr sz="1400"/>
                      </a:pPr>
                      <a:r>
                        <a:t>Evans</a:t>
                      </a:r>
                      <a:r>
                        <a:rPr spc="-65"/>
                        <a:t> </a:t>
                      </a:r>
                      <a:r>
                        <a:rPr spc="-25"/>
                        <a:t>R.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indent="95250" algn="l">
                        <a:spcBef>
                          <a:spcPts val="300"/>
                        </a:spcBef>
                        <a:defRPr sz="1400"/>
                      </a:pPr>
                      <a:r>
                        <a:t>.</a:t>
                      </a:r>
                      <a:r>
                        <a:rPr spc="-90"/>
                        <a:t> </a:t>
                      </a:r>
                      <a:r>
                        <a:t>ACM</a:t>
                      </a:r>
                      <a:r>
                        <a:rPr spc="-50"/>
                        <a:t> </a:t>
                      </a:r>
                      <a:r>
                        <a:t>Computing</a:t>
                      </a:r>
                      <a:r>
                        <a:rPr spc="-20"/>
                        <a:t> </a:t>
                      </a:r>
                      <a:r>
                        <a:t>Surveys</a:t>
                      </a:r>
                      <a:r>
                        <a:rPr spc="-15"/>
                        <a:t> </a:t>
                      </a:r>
                      <a:r>
                        <a:rPr spc="-10"/>
                        <a:t>(2016)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346075" indent="-286384" algn="l">
                        <a:buSzPct val="100000"/>
                        <a:buFont typeface="Arial"/>
                        <a:buChar char="•"/>
                        <a:tabLst>
                          <a:tab pos="342900" algn="l"/>
                        </a:tabLst>
                        <a:defRPr sz="1400"/>
                      </a:pPr>
                      <a:r>
                        <a:t>Microservices</a:t>
                      </a:r>
                      <a:r>
                        <a:rPr spc="-65"/>
                        <a:t> </a:t>
                      </a:r>
                      <a:r>
                        <a:t>enable</a:t>
                      </a:r>
                      <a:r>
                        <a:rPr spc="-65"/>
                        <a:t> </a:t>
                      </a:r>
                      <a:r>
                        <a:rPr spc="-10"/>
                        <a:t>independent</a:t>
                      </a:r>
                    </a:p>
                    <a:p>
                      <a:pPr marR="671194" indent="346075" algn="l">
                        <a:lnSpc>
                          <a:spcPct val="107300"/>
                        </a:lnSpc>
                        <a:defRPr sz="1400"/>
                      </a:pPr>
                      <a:r>
                        <a:t>deployment</a:t>
                      </a:r>
                      <a:r>
                        <a:rPr spc="5"/>
                        <a:t> </a:t>
                      </a:r>
                      <a:r>
                        <a:t>and</a:t>
                      </a:r>
                      <a:r>
                        <a:rPr spc="-10"/>
                        <a:t> scalability </a:t>
                      </a:r>
                      <a:r>
                        <a:t>for</a:t>
                      </a:r>
                      <a:r>
                        <a:rPr spc="-75"/>
                        <a:t> </a:t>
                      </a:r>
                      <a:r>
                        <a:rPr spc="-25"/>
                        <a:t>web </a:t>
                      </a:r>
                      <a:r>
                        <a:rPr spc="-10"/>
                        <a:t>applications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2DEEE"/>
                    </a:solidFill>
                  </a:tcPr>
                </a:tc>
              </a:tr>
            </a:tbl>
          </a:graphicData>
        </a:graphic>
      </p:graphicFrame>
      <p:pic>
        <p:nvPicPr>
          <p:cNvPr id="141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625" y="29510"/>
            <a:ext cx="2384425" cy="463821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object 12"/>
          <p:cNvSpPr txBox="1"/>
          <p:nvPr/>
        </p:nvSpPr>
        <p:spPr>
          <a:xfrm>
            <a:off x="4786376" y="6578111"/>
            <a:ext cx="26295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5425">
              <a:defRPr sz="900">
                <a:solidFill>
                  <a:srgbClr val="888888"/>
                </a:solidFill>
              </a:defRPr>
            </a:pPr>
            <a:r>
              <a:t>Final</a:t>
            </a:r>
            <a:r>
              <a:rPr spc="90"/>
              <a:t> </a:t>
            </a:r>
            <a:r>
              <a:t>Review,</a:t>
            </a:r>
            <a:r>
              <a:rPr spc="30"/>
              <a:t> </a:t>
            </a:r>
            <a:r>
              <a:t>CSD</a:t>
            </a:r>
            <a:r>
              <a:rPr spc="110"/>
              <a:t> </a:t>
            </a:r>
            <a:r>
              <a:t>334</a:t>
            </a:r>
            <a:r>
              <a:rPr spc="95"/>
              <a:t> </a:t>
            </a:r>
            <a:r>
              <a:t>-</a:t>
            </a:r>
            <a:r>
              <a:rPr spc="100"/>
              <a:t> </a:t>
            </a:r>
            <a:r>
              <a:t>MINI</a:t>
            </a:r>
            <a:r>
              <a:rPr spc="120"/>
              <a:t> </a:t>
            </a:r>
            <a:r>
              <a:rPr spc="-10"/>
              <a:t>PROJECT</a:t>
            </a:r>
          </a:p>
        </p:txBody>
      </p:sp>
      <p:sp>
        <p:nvSpPr>
          <p:cNvPr id="143" name="object 10"/>
          <p:cNvSpPr txBox="1"/>
          <p:nvPr/>
        </p:nvSpPr>
        <p:spPr>
          <a:xfrm>
            <a:off x="917575" y="6489148"/>
            <a:ext cx="777739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10" sz="1200">
                <a:solidFill>
                  <a:srgbClr val="888888"/>
                </a:solidFill>
              </a:defRPr>
            </a:lvl1pPr>
          </a:lstStyle>
          <a:p>
            <a:pPr/>
            <a:r>
              <a:t>06/04/2026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  <a:latin typeface="Sitka Small Semibold"/>
                <a:ea typeface="Sitka Small Semibold"/>
                <a:cs typeface="Sitka Small Semibold"/>
                <a:sym typeface="Sitka Small Semibold"/>
              </a:defRPr>
            </a:lvl1pPr>
          </a:lstStyle>
          <a:p>
            <a:pPr/>
            <a:r>
              <a:t>Block diagram</a:t>
            </a:r>
          </a:p>
        </p:txBody>
      </p:sp>
      <p:sp>
        <p:nvSpPr>
          <p:cNvPr id="146" name="Slide Number Placeholder 5"/>
          <p:cNvSpPr txBox="1"/>
          <p:nvPr>
            <p:ph type="sldNum" sz="quarter" idx="2"/>
          </p:nvPr>
        </p:nvSpPr>
        <p:spPr>
          <a:xfrm>
            <a:off x="11173459" y="6401179"/>
            <a:ext cx="180341" cy="2754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47" name="图片" descr="图片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system_architecture.png" descr="system_architectur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51663" y="1546676"/>
            <a:ext cx="4467487" cy="446748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625" y="29510"/>
            <a:ext cx="2384425" cy="463821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object 12"/>
          <p:cNvSpPr txBox="1"/>
          <p:nvPr/>
        </p:nvSpPr>
        <p:spPr>
          <a:xfrm>
            <a:off x="4786376" y="6578111"/>
            <a:ext cx="26295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5425">
              <a:defRPr sz="900">
                <a:solidFill>
                  <a:srgbClr val="888888"/>
                </a:solidFill>
              </a:defRPr>
            </a:pPr>
            <a:r>
              <a:t>Final</a:t>
            </a:r>
            <a:r>
              <a:rPr spc="90"/>
              <a:t> </a:t>
            </a:r>
            <a:r>
              <a:t>Review,</a:t>
            </a:r>
            <a:r>
              <a:rPr spc="30"/>
              <a:t> </a:t>
            </a:r>
            <a:r>
              <a:t>CSD</a:t>
            </a:r>
            <a:r>
              <a:rPr spc="110"/>
              <a:t> </a:t>
            </a:r>
            <a:r>
              <a:t>334</a:t>
            </a:r>
            <a:r>
              <a:rPr spc="95"/>
              <a:t> </a:t>
            </a:r>
            <a:r>
              <a:t>-</a:t>
            </a:r>
            <a:r>
              <a:rPr spc="100"/>
              <a:t> </a:t>
            </a:r>
            <a:r>
              <a:t>MINI</a:t>
            </a:r>
            <a:r>
              <a:rPr spc="120"/>
              <a:t> </a:t>
            </a:r>
            <a:r>
              <a:rPr spc="-10"/>
              <a:t>PROJECT</a:t>
            </a:r>
          </a:p>
        </p:txBody>
      </p:sp>
      <p:sp>
        <p:nvSpPr>
          <p:cNvPr id="151" name="object 10"/>
          <p:cNvSpPr txBox="1"/>
          <p:nvPr/>
        </p:nvSpPr>
        <p:spPr>
          <a:xfrm>
            <a:off x="917575" y="6451048"/>
            <a:ext cx="777739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10" sz="1200">
                <a:solidFill>
                  <a:srgbClr val="888888"/>
                </a:solidFill>
              </a:defRPr>
            </a:lvl1pPr>
          </a:lstStyle>
          <a:p>
            <a:pPr/>
            <a:r>
              <a:t>06/04/2026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  <a:latin typeface="Sitka Small Semibold"/>
                <a:ea typeface="Sitka Small Semibold"/>
                <a:cs typeface="Sitka Small Semibold"/>
                <a:sym typeface="Sitka Small Semibold"/>
              </a:defRPr>
            </a:lvl1pPr>
          </a:lstStyle>
          <a:p>
            <a:pPr/>
            <a:r>
              <a:t>Methodology/Procedure</a:t>
            </a:r>
          </a:p>
        </p:txBody>
      </p:sp>
      <p:sp>
        <p:nvSpPr>
          <p:cNvPr id="154" name="Slide Number Placeholder 5"/>
          <p:cNvSpPr txBox="1"/>
          <p:nvPr>
            <p:ph type="sldNum" sz="quarter" idx="2"/>
          </p:nvPr>
        </p:nvSpPr>
        <p:spPr>
          <a:xfrm>
            <a:off x="11173459" y="6401179"/>
            <a:ext cx="180341" cy="2754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55" name="图片" descr="图片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object 3"/>
          <p:cNvSpPr txBox="1"/>
          <p:nvPr/>
        </p:nvSpPr>
        <p:spPr>
          <a:xfrm>
            <a:off x="287337" y="1367472"/>
            <a:ext cx="11322685" cy="4256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41300" marR="149225" indent="-229234">
              <a:lnSpc>
                <a:spcPts val="2200"/>
              </a:lnSpc>
              <a:spcBef>
                <a:spcPts val="300"/>
              </a:spcBef>
              <a:buSzPct val="100000"/>
              <a:buChar char="•"/>
              <a:tabLst>
                <a:tab pos="241300" algn="l"/>
                <a:tab pos="317500" algn="l"/>
              </a:tabLst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  <a:r>
              <a:rPr b="1" spc="-9" sz="2000">
                <a:latin typeface="Times New Roman"/>
                <a:ea typeface="Times New Roman"/>
                <a:cs typeface="Times New Roman"/>
                <a:sym typeface="Times New Roman"/>
              </a:rPr>
              <a:t>Development</a:t>
            </a:r>
            <a:r>
              <a:rPr b="1" spc="-130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spc="-19" sz="2000">
                <a:latin typeface="Times New Roman"/>
                <a:ea typeface="Times New Roman"/>
                <a:cs typeface="Times New Roman"/>
                <a:sym typeface="Times New Roman"/>
              </a:rPr>
              <a:t>Approach:</a:t>
            </a:r>
            <a:r>
              <a:rPr b="1" spc="-90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 sz="2000">
                <a:latin typeface="Times New Roman"/>
                <a:ea typeface="Times New Roman"/>
                <a:cs typeface="Times New Roman"/>
                <a:sym typeface="Times New Roman"/>
              </a:rPr>
              <a:t>Agile-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based</a:t>
            </a:r>
            <a:r>
              <a:rPr spc="-30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iterative</a:t>
            </a:r>
            <a:r>
              <a:rPr spc="-60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r>
              <a:rPr spc="-25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with</a:t>
            </a:r>
            <a:r>
              <a:rPr spc="-25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spc="-25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sprints</a:t>
            </a:r>
            <a:r>
              <a:rPr spc="-25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over</a:t>
            </a:r>
            <a:r>
              <a:rPr spc="9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spc="-25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weeks;</a:t>
            </a:r>
            <a:r>
              <a:rPr spc="-25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continuous</a:t>
            </a:r>
            <a:r>
              <a:rPr spc="-25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build,</a:t>
            </a:r>
            <a:r>
              <a:rPr spc="-39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 sz="2000">
                <a:latin typeface="Times New Roman"/>
                <a:ea typeface="Times New Roman"/>
                <a:cs typeface="Times New Roman"/>
                <a:sym typeface="Times New Roman"/>
              </a:rPr>
              <a:t>test, 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spc="-35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pc="-9" sz="2000">
                <a:latin typeface="Times New Roman"/>
                <a:ea typeface="Times New Roman"/>
                <a:cs typeface="Times New Roman"/>
                <a:sym typeface="Times New Roman"/>
              </a:rPr>
              <a:t>improvement.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marR="5080" indent="-229234">
              <a:lnSpc>
                <a:spcPts val="2100"/>
              </a:lnSpc>
              <a:spcBef>
                <a:spcPts val="900"/>
              </a:spcBef>
              <a:buSzPct val="100000"/>
              <a:buFont typeface="Arial"/>
              <a:buChar char="•"/>
              <a:tabLst>
                <a:tab pos="241300" algn="l"/>
              </a:tabLst>
              <a:defRPr b="1" sz="2000"/>
            </a:pPr>
            <a:r>
              <a:t>System</a:t>
            </a:r>
            <a:r>
              <a:rPr spc="-120"/>
              <a:t> </a:t>
            </a:r>
            <a:r>
              <a:rPr spc="-9"/>
              <a:t>Architecture:</a:t>
            </a:r>
            <a:r>
              <a:rPr spc="-65"/>
              <a:t> </a:t>
            </a:r>
            <a:r>
              <a:rPr b="0" spc="-9"/>
              <a:t>3-</a:t>
            </a:r>
            <a:r>
              <a:rPr b="0"/>
              <a:t>layer</a:t>
            </a:r>
            <a:r>
              <a:rPr b="0" spc="-15"/>
              <a:t> </a:t>
            </a:r>
            <a:r>
              <a:rPr b="0"/>
              <a:t>design</a:t>
            </a:r>
            <a:r>
              <a:rPr b="0" spc="-35"/>
              <a:t> </a:t>
            </a:r>
            <a:r>
              <a:rPr b="0"/>
              <a:t>–</a:t>
            </a:r>
            <a:r>
              <a:rPr b="0" spc="-45"/>
              <a:t> </a:t>
            </a:r>
            <a:r>
              <a:rPr b="0"/>
              <a:t>Presentation</a:t>
            </a:r>
            <a:r>
              <a:rPr b="0" spc="-50"/>
              <a:t> </a:t>
            </a:r>
            <a:r>
              <a:rPr b="0"/>
              <a:t>(Next.js),</a:t>
            </a:r>
            <a:r>
              <a:rPr b="0" spc="-65"/>
              <a:t> </a:t>
            </a:r>
            <a:r>
              <a:rPr b="0"/>
              <a:t>Communication</a:t>
            </a:r>
            <a:r>
              <a:rPr b="0" spc="-45"/>
              <a:t> </a:t>
            </a:r>
            <a:r>
              <a:rPr b="0"/>
              <a:t>(Socket.IO),</a:t>
            </a:r>
            <a:r>
              <a:rPr b="0" spc="-65"/>
              <a:t> </a:t>
            </a:r>
            <a:r>
              <a:rPr b="0"/>
              <a:t>Data</a:t>
            </a:r>
            <a:r>
              <a:rPr b="0" spc="-9"/>
              <a:t> </a:t>
            </a:r>
            <a:r>
              <a:rPr b="0"/>
              <a:t>(FastAPI</a:t>
            </a:r>
            <a:r>
              <a:rPr b="0" spc="-79"/>
              <a:t> </a:t>
            </a:r>
            <a:r>
              <a:rPr b="0" spc="-50"/>
              <a:t>+ </a:t>
            </a:r>
            <a:r>
              <a:rPr b="0" spc="-9"/>
              <a:t>SQLAlchemy)</a:t>
            </a:r>
          </a:p>
          <a:p>
            <a:pPr marL="241300" indent="-228600">
              <a:spcBef>
                <a:spcPts val="700"/>
              </a:spcBef>
              <a:buSzPct val="100000"/>
              <a:buFont typeface="Arial"/>
              <a:buChar char="•"/>
              <a:tabLst>
                <a:tab pos="241300" algn="l"/>
              </a:tabLst>
              <a:defRPr b="1" spc="-9" sz="2000"/>
            </a:pPr>
            <a:r>
              <a:t>Real-</a:t>
            </a:r>
            <a:r>
              <a:rPr spc="0"/>
              <a:t>Time</a:t>
            </a:r>
            <a:r>
              <a:rPr spc="-75"/>
              <a:t> </a:t>
            </a:r>
            <a:r>
              <a:rPr spc="0"/>
              <a:t>Communication:</a:t>
            </a:r>
            <a:r>
              <a:rPr spc="-30"/>
              <a:t> </a:t>
            </a:r>
            <a:r>
              <a:rPr b="0"/>
              <a:t>Event-</a:t>
            </a:r>
            <a:r>
              <a:rPr b="0" spc="0"/>
              <a:t>driven</a:t>
            </a:r>
            <a:r>
              <a:rPr b="0" spc="-39"/>
              <a:t> </a:t>
            </a:r>
            <a:r>
              <a:rPr b="0" spc="0"/>
              <a:t>messaging</a:t>
            </a:r>
            <a:r>
              <a:rPr b="0" spc="-39"/>
              <a:t> </a:t>
            </a:r>
            <a:r>
              <a:rPr b="0" spc="0"/>
              <a:t>using</a:t>
            </a:r>
            <a:r>
              <a:rPr b="0" spc="-35"/>
              <a:t> </a:t>
            </a:r>
            <a:r>
              <a:rPr b="0" spc="0"/>
              <a:t>JWT</a:t>
            </a:r>
            <a:r>
              <a:rPr b="0" spc="-110"/>
              <a:t> </a:t>
            </a:r>
            <a:r>
              <a:rPr b="0" spc="0"/>
              <a:t>authentication</a:t>
            </a:r>
            <a:r>
              <a:rPr b="0" spc="-39"/>
              <a:t> </a:t>
            </a:r>
            <a:r>
              <a:rPr b="0" spc="0"/>
              <a:t>with</a:t>
            </a:r>
            <a:r>
              <a:rPr b="0" spc="-35"/>
              <a:t> </a:t>
            </a:r>
            <a:r>
              <a:rPr b="0" spc="0"/>
              <a:t>HTTP</a:t>
            </a:r>
            <a:r>
              <a:rPr b="0" spc="-79"/>
              <a:t> </a:t>
            </a:r>
            <a:r>
              <a:rPr b="0"/>
              <a:t>fallback</a:t>
            </a:r>
          </a:p>
          <a:p>
            <a:pPr marL="241300" indent="-228600">
              <a:spcBef>
                <a:spcPts val="700"/>
              </a:spcBef>
              <a:buSzPct val="100000"/>
              <a:buFont typeface="Arial"/>
              <a:buChar char="•"/>
              <a:tabLst>
                <a:tab pos="241300" algn="l"/>
              </a:tabLst>
              <a:defRPr b="1" spc="-9" sz="2000"/>
            </a:pPr>
            <a:r>
              <a:t>Audio/Video</a:t>
            </a:r>
            <a:r>
              <a:rPr spc="-75"/>
              <a:t> </a:t>
            </a:r>
            <a:r>
              <a:rPr spc="0"/>
              <a:t>Communication:</a:t>
            </a:r>
            <a:r>
              <a:rPr spc="-75"/>
              <a:t> </a:t>
            </a:r>
            <a:r>
              <a:rPr b="0" spc="-50"/>
              <a:t>WebRTC</a:t>
            </a:r>
            <a:r>
              <a:rPr b="0" spc="-75"/>
              <a:t> </a:t>
            </a:r>
            <a:r>
              <a:rPr b="0" spc="0"/>
              <a:t>signaling</a:t>
            </a:r>
            <a:r>
              <a:rPr b="0" spc="-55"/>
              <a:t> </a:t>
            </a:r>
            <a:r>
              <a:rPr b="0" spc="0"/>
              <a:t>using</a:t>
            </a:r>
            <a:r>
              <a:rPr b="0" spc="-55"/>
              <a:t> </a:t>
            </a:r>
            <a:r>
              <a:rPr b="0" spc="0"/>
              <a:t>Offer–Answer–ICE</a:t>
            </a:r>
            <a:r>
              <a:rPr b="0" spc="-50"/>
              <a:t> </a:t>
            </a:r>
            <a:r>
              <a:rPr b="0" spc="0"/>
              <a:t>Candidate</a:t>
            </a:r>
            <a:r>
              <a:rPr b="0" spc="-85"/>
              <a:t> </a:t>
            </a:r>
            <a:r>
              <a:rPr b="0"/>
              <a:t>exchange</a:t>
            </a:r>
          </a:p>
          <a:p>
            <a:pPr marL="241300" indent="-228600">
              <a:spcBef>
                <a:spcPts val="700"/>
              </a:spcBef>
              <a:buSzPct val="100000"/>
              <a:buFont typeface="Arial"/>
              <a:buChar char="•"/>
              <a:tabLst>
                <a:tab pos="241300" algn="l"/>
              </a:tabLst>
              <a:defRPr b="1" sz="2000"/>
            </a:pPr>
            <a:r>
              <a:t>Security:</a:t>
            </a:r>
            <a:r>
              <a:rPr spc="-60"/>
              <a:t> </a:t>
            </a:r>
            <a:r>
              <a:rPr b="0" spc="-60"/>
              <a:t>JWT-</a:t>
            </a:r>
            <a:r>
              <a:rPr b="0"/>
              <a:t>based</a:t>
            </a:r>
            <a:r>
              <a:rPr b="0" spc="-50"/>
              <a:t> </a:t>
            </a:r>
            <a:r>
              <a:rPr b="0"/>
              <a:t>authentication</a:t>
            </a:r>
            <a:r>
              <a:rPr b="0" spc="-50"/>
              <a:t> </a:t>
            </a:r>
            <a:r>
              <a:rPr b="0"/>
              <a:t>with</a:t>
            </a:r>
            <a:r>
              <a:rPr b="0" spc="-45"/>
              <a:t> </a:t>
            </a:r>
            <a:r>
              <a:rPr b="0"/>
              <a:t>bcrypt</a:t>
            </a:r>
            <a:r>
              <a:rPr b="0" spc="-75"/>
              <a:t> </a:t>
            </a:r>
            <a:r>
              <a:rPr b="0"/>
              <a:t>(sha256)</a:t>
            </a:r>
            <a:r>
              <a:rPr b="0" spc="-9"/>
              <a:t> </a:t>
            </a:r>
            <a:r>
              <a:rPr b="0"/>
              <a:t>password</a:t>
            </a:r>
            <a:r>
              <a:rPr b="0" spc="-50"/>
              <a:t> </a:t>
            </a:r>
            <a:r>
              <a:rPr b="0" spc="-9"/>
              <a:t>hashing.</a:t>
            </a:r>
          </a:p>
          <a:p>
            <a:pPr marL="241300" indent="-228600">
              <a:spcBef>
                <a:spcPts val="800"/>
              </a:spcBef>
              <a:buSzPct val="100000"/>
              <a:buFont typeface="Arial"/>
              <a:buChar char="•"/>
              <a:tabLst>
                <a:tab pos="241300" algn="l"/>
              </a:tabLst>
              <a:defRPr b="1" sz="2000"/>
            </a:pPr>
            <a:r>
              <a:t>Database</a:t>
            </a:r>
            <a:r>
              <a:rPr spc="-25"/>
              <a:t> </a:t>
            </a:r>
            <a:r>
              <a:t>Design:</a:t>
            </a:r>
            <a:r>
              <a:rPr spc="-60"/>
              <a:t> </a:t>
            </a:r>
            <a:r>
              <a:rPr b="0"/>
              <a:t>Relational</a:t>
            </a:r>
            <a:r>
              <a:rPr b="0" spc="-60"/>
              <a:t> </a:t>
            </a:r>
            <a:r>
              <a:rPr b="0"/>
              <a:t>model</a:t>
            </a:r>
            <a:r>
              <a:rPr b="0" spc="-60"/>
              <a:t> </a:t>
            </a:r>
            <a:r>
              <a:rPr b="0"/>
              <a:t>with</a:t>
            </a:r>
            <a:r>
              <a:rPr b="0" spc="-60"/>
              <a:t> </a:t>
            </a:r>
            <a:r>
              <a:rPr b="0"/>
              <a:t>User,</a:t>
            </a:r>
            <a:r>
              <a:rPr b="0" spc="-9"/>
              <a:t> </a:t>
            </a:r>
            <a:r>
              <a:rPr b="0"/>
              <a:t>Contact,</a:t>
            </a:r>
            <a:r>
              <a:rPr b="0" spc="-75"/>
              <a:t> </a:t>
            </a:r>
            <a:r>
              <a:rPr b="0"/>
              <a:t>Group,</a:t>
            </a:r>
            <a:r>
              <a:rPr b="0" spc="-75"/>
              <a:t> </a:t>
            </a:r>
            <a:r>
              <a:rPr b="0"/>
              <a:t>Message,</a:t>
            </a:r>
            <a:r>
              <a:rPr b="0" spc="-75"/>
              <a:t> </a:t>
            </a:r>
            <a:r>
              <a:rPr b="0" spc="-50"/>
              <a:t>OTP,</a:t>
            </a:r>
            <a:r>
              <a:rPr b="0" spc="-9"/>
              <a:t> </a:t>
            </a:r>
            <a:r>
              <a:rPr b="0"/>
              <a:t>and</a:t>
            </a:r>
            <a:r>
              <a:rPr b="0" spc="-55"/>
              <a:t> </a:t>
            </a:r>
            <a:r>
              <a:rPr b="0"/>
              <a:t>Call</a:t>
            </a:r>
            <a:r>
              <a:rPr b="0" spc="-60"/>
              <a:t> </a:t>
            </a:r>
            <a:r>
              <a:rPr b="0"/>
              <a:t>History</a:t>
            </a:r>
            <a:r>
              <a:rPr b="0" spc="-60"/>
              <a:t> </a:t>
            </a:r>
            <a:r>
              <a:rPr b="0" spc="-9"/>
              <a:t>entities</a:t>
            </a:r>
          </a:p>
          <a:p>
            <a:pPr marL="241300" indent="-228600">
              <a:spcBef>
                <a:spcPts val="700"/>
              </a:spcBef>
              <a:buSzPct val="100000"/>
              <a:buFont typeface="Arial"/>
              <a:buChar char="•"/>
              <a:tabLst>
                <a:tab pos="241300" algn="l"/>
              </a:tabLst>
              <a:defRPr b="1" sz="2000"/>
            </a:pPr>
            <a:r>
              <a:t>Communication</a:t>
            </a:r>
            <a:r>
              <a:rPr spc="-85"/>
              <a:t> </a:t>
            </a:r>
            <a:r>
              <a:t>Model:</a:t>
            </a:r>
            <a:r>
              <a:rPr spc="-45"/>
              <a:t> </a:t>
            </a:r>
            <a:r>
              <a:rPr b="0"/>
              <a:t>REST</a:t>
            </a:r>
            <a:r>
              <a:rPr b="0" spc="-170"/>
              <a:t> </a:t>
            </a:r>
            <a:r>
              <a:rPr b="0"/>
              <a:t>APIs</a:t>
            </a:r>
            <a:r>
              <a:rPr b="0" spc="-35"/>
              <a:t> </a:t>
            </a:r>
            <a:r>
              <a:rPr b="0"/>
              <a:t>for authentication</a:t>
            </a:r>
            <a:r>
              <a:rPr b="0" spc="-39"/>
              <a:t> </a:t>
            </a:r>
            <a:r>
              <a:rPr b="0"/>
              <a:t>and</a:t>
            </a:r>
            <a:r>
              <a:rPr b="0" spc="-39"/>
              <a:t> </a:t>
            </a:r>
            <a:r>
              <a:rPr b="0"/>
              <a:t>data</a:t>
            </a:r>
            <a:r>
              <a:rPr b="0" spc="-65"/>
              <a:t> </a:t>
            </a:r>
            <a:r>
              <a:rPr b="0"/>
              <a:t>handling;</a:t>
            </a:r>
            <a:r>
              <a:rPr b="0" spc="-35"/>
              <a:t> </a:t>
            </a:r>
            <a:r>
              <a:rPr b="0"/>
              <a:t>Socket.IO</a:t>
            </a:r>
            <a:r>
              <a:rPr b="0" spc="-39"/>
              <a:t> </a:t>
            </a:r>
            <a:r>
              <a:rPr b="0"/>
              <a:t>for</a:t>
            </a:r>
            <a:r>
              <a:rPr b="0" spc="-70"/>
              <a:t> </a:t>
            </a:r>
            <a:r>
              <a:rPr b="0"/>
              <a:t>real-time </a:t>
            </a:r>
            <a:r>
              <a:rPr b="0" spc="-9"/>
              <a:t>events.</a:t>
            </a:r>
          </a:p>
          <a:p>
            <a:pPr marL="241300" indent="-228600">
              <a:spcBef>
                <a:spcPts val="700"/>
              </a:spcBef>
              <a:buSzPct val="100000"/>
              <a:buFont typeface="Arial"/>
              <a:buChar char="•"/>
              <a:tabLst>
                <a:tab pos="241300" algn="l"/>
              </a:tabLst>
              <a:defRPr b="1" sz="2000"/>
            </a:pPr>
            <a:r>
              <a:t>Frontend</a:t>
            </a:r>
            <a:r>
              <a:rPr spc="-35"/>
              <a:t> </a:t>
            </a:r>
            <a:r>
              <a:t>Strategy:</a:t>
            </a:r>
            <a:r>
              <a:rPr spc="-50"/>
              <a:t> </a:t>
            </a:r>
            <a:r>
              <a:rPr b="0"/>
              <a:t>Optimistic</a:t>
            </a:r>
            <a:r>
              <a:rPr b="0" spc="-30"/>
              <a:t> </a:t>
            </a:r>
            <a:r>
              <a:rPr b="0"/>
              <a:t>UI</a:t>
            </a:r>
            <a:r>
              <a:rPr b="0" spc="-30"/>
              <a:t> </a:t>
            </a:r>
            <a:r>
              <a:rPr b="0"/>
              <a:t>rendering</a:t>
            </a:r>
            <a:r>
              <a:rPr b="0" spc="-65"/>
              <a:t> </a:t>
            </a:r>
            <a:r>
              <a:rPr b="0"/>
              <a:t>with</a:t>
            </a:r>
            <a:r>
              <a:rPr b="0" spc="-65"/>
              <a:t> </a:t>
            </a:r>
            <a:r>
              <a:rPr b="0" spc="-9"/>
              <a:t>server-</a:t>
            </a:r>
            <a:r>
              <a:rPr b="0"/>
              <a:t>side</a:t>
            </a:r>
            <a:r>
              <a:rPr b="0" spc="-25"/>
              <a:t> </a:t>
            </a:r>
            <a:r>
              <a:rPr b="0"/>
              <a:t>message</a:t>
            </a:r>
            <a:r>
              <a:rPr b="0" spc="-95"/>
              <a:t> </a:t>
            </a:r>
            <a:r>
              <a:rPr b="0" spc="-9"/>
              <a:t>confirmation.</a:t>
            </a:r>
          </a:p>
          <a:p>
            <a:pPr marL="241300" indent="-228600">
              <a:spcBef>
                <a:spcPts val="700"/>
              </a:spcBef>
              <a:buSzPct val="100000"/>
              <a:buFont typeface="Arial"/>
              <a:buChar char="•"/>
              <a:tabLst>
                <a:tab pos="241300" algn="l"/>
              </a:tabLst>
              <a:defRPr b="1" sz="2000"/>
            </a:pPr>
            <a:r>
              <a:t>Deployment:</a:t>
            </a:r>
            <a:r>
              <a:rPr spc="-65"/>
              <a:t> </a:t>
            </a:r>
            <a:r>
              <a:rPr b="0" spc="-19"/>
              <a:t>Docker-</a:t>
            </a:r>
            <a:r>
              <a:rPr b="0"/>
              <a:t>based</a:t>
            </a:r>
            <a:r>
              <a:rPr b="0" spc="-50"/>
              <a:t> </a:t>
            </a:r>
            <a:r>
              <a:rPr b="0"/>
              <a:t>containerization</a:t>
            </a:r>
            <a:r>
              <a:rPr b="0" spc="-45"/>
              <a:t> </a:t>
            </a:r>
            <a:r>
              <a:rPr b="0"/>
              <a:t>with</a:t>
            </a:r>
            <a:r>
              <a:rPr b="0" spc="-50"/>
              <a:t> </a:t>
            </a:r>
            <a:r>
              <a:rPr b="0"/>
              <a:t>GitHub</a:t>
            </a:r>
            <a:r>
              <a:rPr b="0" spc="-50"/>
              <a:t> </a:t>
            </a:r>
            <a:r>
              <a:rPr b="0"/>
              <a:t>for</a:t>
            </a:r>
            <a:r>
              <a:rPr b="0" spc="-9"/>
              <a:t> </a:t>
            </a:r>
            <a:r>
              <a:rPr b="0"/>
              <a:t>version</a:t>
            </a:r>
            <a:r>
              <a:rPr b="0" spc="-50"/>
              <a:t> </a:t>
            </a:r>
            <a:r>
              <a:rPr b="0" spc="-9"/>
              <a:t>control.</a:t>
            </a:r>
          </a:p>
          <a:p>
            <a:pPr marL="241300" indent="-228600">
              <a:spcBef>
                <a:spcPts val="700"/>
              </a:spcBef>
              <a:buSzPct val="100000"/>
              <a:buFont typeface="Arial"/>
              <a:buChar char="•"/>
              <a:tabLst>
                <a:tab pos="241300" algn="l"/>
              </a:tabLst>
              <a:defRPr b="1" spc="-19" sz="2000"/>
            </a:pPr>
            <a:r>
              <a:t>Testing:</a:t>
            </a:r>
            <a:r>
              <a:rPr spc="-30"/>
              <a:t> </a:t>
            </a:r>
            <a:r>
              <a:rPr b="0" spc="0"/>
              <a:t>Functional</a:t>
            </a:r>
            <a:r>
              <a:rPr b="0"/>
              <a:t> </a:t>
            </a:r>
            <a:r>
              <a:rPr b="0" spc="0"/>
              <a:t>testing</a:t>
            </a:r>
            <a:r>
              <a:rPr b="0"/>
              <a:t> </a:t>
            </a:r>
            <a:r>
              <a:rPr b="0" spc="0"/>
              <a:t>and</a:t>
            </a:r>
            <a:r>
              <a:rPr b="0" spc="-25"/>
              <a:t> </a:t>
            </a:r>
            <a:r>
              <a:rPr b="0" spc="-9"/>
              <a:t>end-to-</a:t>
            </a:r>
            <a:r>
              <a:rPr b="0" spc="0"/>
              <a:t>end</a:t>
            </a:r>
            <a:r>
              <a:rPr b="0" spc="-30"/>
              <a:t> </a:t>
            </a:r>
            <a:r>
              <a:rPr b="0" spc="0"/>
              <a:t>user</a:t>
            </a:r>
            <a:r>
              <a:rPr b="0" spc="-55"/>
              <a:t> </a:t>
            </a:r>
            <a:r>
              <a:rPr b="0" spc="0"/>
              <a:t>flow</a:t>
            </a:r>
            <a:r>
              <a:rPr b="0" spc="-30"/>
              <a:t> </a:t>
            </a:r>
            <a:r>
              <a:rPr b="0" spc="-9"/>
              <a:t>validation</a:t>
            </a:r>
          </a:p>
        </p:txBody>
      </p:sp>
      <p:pic>
        <p:nvPicPr>
          <p:cNvPr id="157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625" y="29510"/>
            <a:ext cx="2384425" cy="463821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object 12"/>
          <p:cNvSpPr txBox="1"/>
          <p:nvPr/>
        </p:nvSpPr>
        <p:spPr>
          <a:xfrm>
            <a:off x="4786376" y="6578111"/>
            <a:ext cx="26295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5425">
              <a:defRPr sz="900">
                <a:solidFill>
                  <a:srgbClr val="888888"/>
                </a:solidFill>
              </a:defRPr>
            </a:pPr>
            <a:r>
              <a:t>Final</a:t>
            </a:r>
            <a:r>
              <a:rPr spc="90"/>
              <a:t> </a:t>
            </a:r>
            <a:r>
              <a:t>Review,</a:t>
            </a:r>
            <a:r>
              <a:rPr spc="30"/>
              <a:t> </a:t>
            </a:r>
            <a:r>
              <a:t>CSD</a:t>
            </a:r>
            <a:r>
              <a:rPr spc="110"/>
              <a:t> </a:t>
            </a:r>
            <a:r>
              <a:t>334</a:t>
            </a:r>
            <a:r>
              <a:rPr spc="95"/>
              <a:t> </a:t>
            </a:r>
            <a:r>
              <a:t>-</a:t>
            </a:r>
            <a:r>
              <a:rPr spc="100"/>
              <a:t> </a:t>
            </a:r>
            <a:r>
              <a:t>MINI</a:t>
            </a:r>
            <a:r>
              <a:rPr spc="120"/>
              <a:t> </a:t>
            </a:r>
            <a:r>
              <a:rPr spc="-10"/>
              <a:t>PROJECT</a:t>
            </a:r>
          </a:p>
        </p:txBody>
      </p:sp>
      <p:sp>
        <p:nvSpPr>
          <p:cNvPr id="159" name="object 10"/>
          <p:cNvSpPr txBox="1"/>
          <p:nvPr/>
        </p:nvSpPr>
        <p:spPr>
          <a:xfrm>
            <a:off x="917575" y="6451048"/>
            <a:ext cx="777739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10" sz="1200">
                <a:solidFill>
                  <a:srgbClr val="888888"/>
                </a:solidFill>
              </a:defRPr>
            </a:lvl1pPr>
          </a:lstStyle>
          <a:p>
            <a:pPr/>
            <a:r>
              <a:t>06/04/2026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2F5597"/>
                </a:solidFill>
                <a:latin typeface="Sitka Small Semibold"/>
                <a:ea typeface="Sitka Small Semibold"/>
                <a:cs typeface="Sitka Small Semibold"/>
                <a:sym typeface="Sitka Small Semibold"/>
              </a:defRPr>
            </a:lvl1pPr>
          </a:lstStyle>
          <a:p>
            <a:pPr/>
            <a:r>
              <a:t>Result and GUI </a:t>
            </a:r>
          </a:p>
        </p:txBody>
      </p:sp>
      <p:sp>
        <p:nvSpPr>
          <p:cNvPr id="162" name="Slide Number Placeholder 5"/>
          <p:cNvSpPr txBox="1"/>
          <p:nvPr>
            <p:ph type="sldNum" sz="quarter" idx="2"/>
          </p:nvPr>
        </p:nvSpPr>
        <p:spPr>
          <a:xfrm>
            <a:off x="11173459" y="6401179"/>
            <a:ext cx="180341" cy="2754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3" name="图片" descr="图片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chat_window.png" descr="chat_window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8323" y="2015244"/>
            <a:ext cx="4859716" cy="3051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signup_page.png" descr="signup_p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47990" y="2015244"/>
            <a:ext cx="4859716" cy="30513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object 5" descr="object 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7625" y="29510"/>
            <a:ext cx="2384425" cy="463821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object 12"/>
          <p:cNvSpPr txBox="1"/>
          <p:nvPr/>
        </p:nvSpPr>
        <p:spPr>
          <a:xfrm>
            <a:off x="4786376" y="6578111"/>
            <a:ext cx="26295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5425">
              <a:defRPr sz="900">
                <a:solidFill>
                  <a:srgbClr val="888888"/>
                </a:solidFill>
              </a:defRPr>
            </a:pPr>
            <a:r>
              <a:t>Final</a:t>
            </a:r>
            <a:r>
              <a:rPr spc="90"/>
              <a:t> </a:t>
            </a:r>
            <a:r>
              <a:t>Review,</a:t>
            </a:r>
            <a:r>
              <a:rPr spc="30"/>
              <a:t> </a:t>
            </a:r>
            <a:r>
              <a:t>CSD</a:t>
            </a:r>
            <a:r>
              <a:rPr spc="110"/>
              <a:t> </a:t>
            </a:r>
            <a:r>
              <a:t>334</a:t>
            </a:r>
            <a:r>
              <a:rPr spc="95"/>
              <a:t> </a:t>
            </a:r>
            <a:r>
              <a:t>-</a:t>
            </a:r>
            <a:r>
              <a:rPr spc="100"/>
              <a:t> </a:t>
            </a:r>
            <a:r>
              <a:t>MINI</a:t>
            </a:r>
            <a:r>
              <a:rPr spc="120"/>
              <a:t> </a:t>
            </a:r>
            <a:r>
              <a:rPr spc="-10"/>
              <a:t>PROJECT</a:t>
            </a:r>
          </a:p>
        </p:txBody>
      </p:sp>
      <p:sp>
        <p:nvSpPr>
          <p:cNvPr id="168" name="object 10"/>
          <p:cNvSpPr txBox="1"/>
          <p:nvPr/>
        </p:nvSpPr>
        <p:spPr>
          <a:xfrm>
            <a:off x="917575" y="6451048"/>
            <a:ext cx="777739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10" sz="1200">
                <a:solidFill>
                  <a:srgbClr val="888888"/>
                </a:solidFill>
              </a:defRPr>
            </a:lvl1pPr>
          </a:lstStyle>
          <a:p>
            <a:pPr/>
            <a:r>
              <a:t>06/04/2026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  <a:latin typeface="Sitka Small Semibold"/>
                <a:ea typeface="Sitka Small Semibold"/>
                <a:cs typeface="Sitka Small Semibold"/>
                <a:sym typeface="Sitka Small Semibold"/>
              </a:defRPr>
            </a:lvl1pPr>
          </a:lstStyle>
          <a:p>
            <a:pPr/>
            <a:r>
              <a:t>SDG Mapping</a:t>
            </a:r>
          </a:p>
        </p:txBody>
      </p:sp>
      <p:sp>
        <p:nvSpPr>
          <p:cNvPr id="171" name="Slide Number Placeholder 5"/>
          <p:cNvSpPr txBox="1"/>
          <p:nvPr>
            <p:ph type="sldNum" sz="quarter" idx="2"/>
          </p:nvPr>
        </p:nvSpPr>
        <p:spPr>
          <a:xfrm>
            <a:off x="11173459" y="6401179"/>
            <a:ext cx="180341" cy="2754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72" name="图片" descr="图片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" name="telegram-cloud-photo-size-5-6226670709472169123-y.jpg" descr="telegram-cloud-photo-size-5-6226670709472169123-y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60666" y="1682235"/>
            <a:ext cx="9082005" cy="38427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625" y="29510"/>
            <a:ext cx="2384425" cy="463821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object 12"/>
          <p:cNvSpPr txBox="1"/>
          <p:nvPr/>
        </p:nvSpPr>
        <p:spPr>
          <a:xfrm>
            <a:off x="4786376" y="6578111"/>
            <a:ext cx="26295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5425">
              <a:defRPr sz="900">
                <a:solidFill>
                  <a:srgbClr val="888888"/>
                </a:solidFill>
              </a:defRPr>
            </a:pPr>
            <a:r>
              <a:t>Final</a:t>
            </a:r>
            <a:r>
              <a:rPr spc="90"/>
              <a:t> </a:t>
            </a:r>
            <a:r>
              <a:t>Review,</a:t>
            </a:r>
            <a:r>
              <a:rPr spc="30"/>
              <a:t> </a:t>
            </a:r>
            <a:r>
              <a:t>CSD</a:t>
            </a:r>
            <a:r>
              <a:rPr spc="110"/>
              <a:t> </a:t>
            </a:r>
            <a:r>
              <a:t>334</a:t>
            </a:r>
            <a:r>
              <a:rPr spc="95"/>
              <a:t> </a:t>
            </a:r>
            <a:r>
              <a:t>-</a:t>
            </a:r>
            <a:r>
              <a:rPr spc="100"/>
              <a:t> </a:t>
            </a:r>
            <a:r>
              <a:t>MINI</a:t>
            </a:r>
            <a:r>
              <a:rPr spc="120"/>
              <a:t> </a:t>
            </a:r>
            <a:r>
              <a:rPr spc="-10"/>
              <a:t>PROJECT</a:t>
            </a:r>
          </a:p>
        </p:txBody>
      </p:sp>
      <p:sp>
        <p:nvSpPr>
          <p:cNvPr id="176" name="object 10"/>
          <p:cNvSpPr txBox="1"/>
          <p:nvPr/>
        </p:nvSpPr>
        <p:spPr>
          <a:xfrm>
            <a:off x="917575" y="6451048"/>
            <a:ext cx="777739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10" sz="1200">
                <a:solidFill>
                  <a:srgbClr val="888888"/>
                </a:solidFill>
              </a:defRPr>
            </a:lvl1pPr>
          </a:lstStyle>
          <a:p>
            <a:pPr/>
            <a:r>
              <a:t>06/04/2026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1" sz="3900">
                <a:solidFill>
                  <a:srgbClr val="002060"/>
                </a:solidFill>
                <a:latin typeface="Sitka Small Semibold"/>
                <a:ea typeface="Sitka Small Semibold"/>
                <a:cs typeface="Sitka Small Semibold"/>
                <a:sym typeface="Sitka Small Semibold"/>
              </a:defRPr>
            </a:lvl1pPr>
          </a:lstStyle>
          <a:p>
            <a:pPr/>
            <a:r>
              <a:t>Roles and Responsibilities of Members</a:t>
            </a:r>
          </a:p>
        </p:txBody>
      </p:sp>
      <p:sp>
        <p:nvSpPr>
          <p:cNvPr id="179" name="Slide Number Placeholder 5"/>
          <p:cNvSpPr txBox="1"/>
          <p:nvPr>
            <p:ph type="sldNum" sz="quarter" idx="2"/>
          </p:nvPr>
        </p:nvSpPr>
        <p:spPr>
          <a:xfrm>
            <a:off x="11097260" y="6401179"/>
            <a:ext cx="256540" cy="2754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0" name="图片" descr="图片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81" name="object 3"/>
          <p:cNvGraphicFramePr/>
          <p:nvPr/>
        </p:nvGraphicFramePr>
        <p:xfrm>
          <a:off x="960466" y="1431639"/>
          <a:ext cx="10108922" cy="485522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81572"/>
                <a:gridCol w="4800242"/>
                <a:gridCol w="3814406"/>
              </a:tblGrid>
              <a:tr h="680211">
                <a:tc>
                  <a:txBody>
                    <a:bodyPr/>
                    <a:lstStyle/>
                    <a:p>
                      <a:pPr marR="273684">
                        <a:spcBef>
                          <a:spcPts val="100"/>
                        </a:spcBef>
                        <a:defRPr sz="1800"/>
                      </a:pPr>
                      <a:r>
                        <a:rPr b="1" spc="-9" sz="2000">
                          <a:solidFill>
                            <a:srgbClr val="FFFFFF"/>
                          </a:solidFill>
                        </a:rPr>
                        <a:t>Member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defRPr sz="1800"/>
                      </a:pPr>
                      <a:r>
                        <a:rPr b="1" spc="-19" sz="200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indent="828039" algn="l">
                        <a:spcBef>
                          <a:spcPts val="100"/>
                        </a:spcBef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  <a:r>
                        <a:rPr spc="15"/>
                        <a:t> </a:t>
                      </a:r>
                      <a:r>
                        <a:t>/</a:t>
                      </a:r>
                      <a:r>
                        <a:rPr spc="-25"/>
                        <a:t> </a:t>
                      </a:r>
                      <a:r>
                        <a:rPr spc="-9"/>
                        <a:t>Responsibility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4471C4"/>
                    </a:solidFill>
                  </a:tcPr>
                </a:tc>
              </a:tr>
              <a:tr h="680656">
                <a:tc>
                  <a:txBody>
                    <a:bodyPr/>
                    <a:lstStyle/>
                    <a:p>
                      <a:pPr marR="306704">
                        <a:spcBef>
                          <a:spcPts val="100"/>
                        </a:spcBef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Member</a:t>
                      </a:r>
                      <a:r>
                        <a:rPr spc="-79"/>
                        <a:t> </a:t>
                      </a:r>
                      <a:r>
                        <a:rPr spc="-50"/>
                        <a:t>1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indent="69850" algn="l">
                        <a:lnSpc>
                          <a:spcPts val="2300"/>
                        </a:lnSpc>
                        <a:defRPr sz="2000"/>
                      </a:pPr>
                      <a:r>
                        <a:t>Marvin</a:t>
                      </a:r>
                      <a:r>
                        <a:rPr spc="-25"/>
                        <a:t> </a:t>
                      </a:r>
                      <a:r>
                        <a:t>M</a:t>
                      </a:r>
                      <a:r>
                        <a:rPr spc="-60"/>
                        <a:t> </a:t>
                      </a:r>
                      <a:r>
                        <a:rPr spc="-9"/>
                        <a:t>Varghese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387984" indent="73660" algn="l">
                        <a:lnSpc>
                          <a:spcPts val="2100"/>
                        </a:lnSpc>
                        <a:defRPr sz="1800"/>
                      </a:pPr>
                      <a:r>
                        <a:t>Project</a:t>
                      </a:r>
                      <a:r>
                        <a:rPr spc="15"/>
                        <a:t> </a:t>
                      </a:r>
                      <a:r>
                        <a:t>Lead</a:t>
                      </a:r>
                      <a:r>
                        <a:rPr spc="-5"/>
                        <a:t> </a:t>
                      </a:r>
                      <a:r>
                        <a:t>&amp;</a:t>
                      </a:r>
                      <a:r>
                        <a:rPr spc="20"/>
                        <a:t> </a:t>
                      </a:r>
                      <a:r>
                        <a:t>Backend</a:t>
                      </a:r>
                      <a:r>
                        <a:rPr spc="-5"/>
                        <a:t> </a:t>
                      </a:r>
                      <a:r>
                        <a:t>Developer</a:t>
                      </a:r>
                      <a:r>
                        <a:rPr spc="-65"/>
                        <a:t> </a:t>
                      </a:r>
                      <a:r>
                        <a:rPr spc="-50"/>
                        <a:t>- </a:t>
                      </a:r>
                      <a:r>
                        <a:rPr spc="-10"/>
                        <a:t>FastAPI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4EA"/>
                    </a:solidFill>
                  </a:tcPr>
                </a:tc>
              </a:tr>
              <a:tr h="1073900">
                <a:tc>
                  <a:txBody>
                    <a:bodyPr/>
                    <a:lstStyle/>
                    <a:p>
                      <a:pPr marR="306704">
                        <a:spcBef>
                          <a:spcPts val="100"/>
                        </a:spcBef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Member</a:t>
                      </a:r>
                      <a:r>
                        <a:rPr spc="-65"/>
                        <a:t> </a:t>
                      </a:r>
                      <a:r>
                        <a:rPr spc="-50"/>
                        <a:t>2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indent="69850" algn="l">
                        <a:lnSpc>
                          <a:spcPts val="2300"/>
                        </a:lnSpc>
                        <a:defRPr sz="2000"/>
                      </a:pPr>
                      <a:r>
                        <a:t>Muhammed</a:t>
                      </a:r>
                      <a:r>
                        <a:rPr spc="-79"/>
                        <a:t> </a:t>
                      </a:r>
                      <a:r>
                        <a:rPr spc="-19"/>
                        <a:t>Sajid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73660" algn="l">
                        <a:lnSpc>
                          <a:spcPts val="2100"/>
                        </a:lnSpc>
                        <a:defRPr sz="1800"/>
                      </a:pPr>
                      <a:r>
                        <a:t>Frontend</a:t>
                      </a:r>
                      <a:r>
                        <a:rPr spc="15"/>
                        <a:t> </a:t>
                      </a:r>
                      <a:r>
                        <a:t>Developer</a:t>
                      </a:r>
                      <a:r>
                        <a:rPr spc="15"/>
                        <a:t> </a:t>
                      </a:r>
                      <a:r>
                        <a:t>&amp;</a:t>
                      </a:r>
                      <a:r>
                        <a:rPr spc="-30"/>
                        <a:t> </a:t>
                      </a:r>
                      <a:r>
                        <a:t>UI/UX</a:t>
                      </a:r>
                      <a:r>
                        <a:rPr spc="-5"/>
                        <a:t> </a:t>
                      </a:r>
                      <a:r>
                        <a:rPr spc="-10"/>
                        <a:t>Designer</a:t>
                      </a:r>
                    </a:p>
                    <a:p>
                      <a:pPr marR="171450" indent="73660" algn="l">
                        <a:lnSpc>
                          <a:spcPct val="100800"/>
                        </a:lnSpc>
                        <a:defRPr sz="1800"/>
                      </a:pPr>
                      <a:r>
                        <a:t>-</a:t>
                      </a:r>
                      <a:r>
                        <a:rPr spc="-50"/>
                        <a:t> </a:t>
                      </a:r>
                      <a:r>
                        <a:t>Next.js,</a:t>
                      </a:r>
                      <a:r>
                        <a:rPr spc="-34"/>
                        <a:t> </a:t>
                      </a:r>
                      <a:r>
                        <a:t>React,</a:t>
                      </a:r>
                      <a:r>
                        <a:rPr spc="-34"/>
                        <a:t> </a:t>
                      </a:r>
                      <a:r>
                        <a:rPr spc="-10"/>
                        <a:t>Tailwind</a:t>
                      </a:r>
                      <a:r>
                        <a:rPr spc="-34"/>
                        <a:t> </a:t>
                      </a:r>
                      <a:r>
                        <a:rPr spc="-20"/>
                        <a:t>CSS, </a:t>
                      </a:r>
                      <a:r>
                        <a:t>password</a:t>
                      </a:r>
                      <a:r>
                        <a:rPr spc="-30"/>
                        <a:t> </a:t>
                      </a:r>
                      <a:r>
                        <a:t>strength</a:t>
                      </a:r>
                      <a:r>
                        <a:rPr spc="-34"/>
                        <a:t> </a:t>
                      </a:r>
                      <a:r>
                        <a:t>indicator,</a:t>
                      </a:r>
                      <a:r>
                        <a:rPr spc="-30"/>
                        <a:t> </a:t>
                      </a:r>
                      <a:r>
                        <a:rPr spc="-10"/>
                        <a:t>responsive design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</a:tr>
              <a:tr h="1332148">
                <a:tc>
                  <a:txBody>
                    <a:bodyPr/>
                    <a:lstStyle/>
                    <a:p>
                      <a:pPr marR="306704">
                        <a:spcBef>
                          <a:spcPts val="100"/>
                        </a:spcBef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Member</a:t>
                      </a:r>
                      <a:r>
                        <a:rPr spc="-65"/>
                        <a:t> </a:t>
                      </a:r>
                      <a:r>
                        <a:rPr spc="-50"/>
                        <a:t>3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indent="69850" algn="l">
                        <a:defRPr sz="2000"/>
                      </a:pPr>
                      <a:r>
                        <a:t>Parthan</a:t>
                      </a:r>
                      <a:r>
                        <a:rPr spc="-39"/>
                        <a:t> </a:t>
                      </a:r>
                      <a:r>
                        <a:rPr spc="-50"/>
                        <a:t>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292100" indent="73660" algn="l">
                        <a:lnSpc>
                          <a:spcPts val="2100"/>
                        </a:lnSpc>
                        <a:defRPr sz="1800"/>
                      </a:pPr>
                      <a:r>
                        <a:t>Database</a:t>
                      </a:r>
                      <a:r>
                        <a:rPr spc="-75"/>
                        <a:t> </a:t>
                      </a:r>
                      <a:r>
                        <a:t>Administrator</a:t>
                      </a:r>
                      <a:r>
                        <a:rPr spc="-25"/>
                        <a:t> </a:t>
                      </a:r>
                      <a:r>
                        <a:t>&amp; </a:t>
                      </a:r>
                      <a:r>
                        <a:rPr spc="-10"/>
                        <a:t>Backend </a:t>
                      </a:r>
                      <a:r>
                        <a:t>Support</a:t>
                      </a:r>
                      <a:r>
                        <a:rPr spc="-34"/>
                        <a:t> </a:t>
                      </a:r>
                      <a:r>
                        <a:t>-</a:t>
                      </a:r>
                      <a:r>
                        <a:rPr spc="-25"/>
                        <a:t> </a:t>
                      </a:r>
                      <a:r>
                        <a:t>PostgreSQL,</a:t>
                      </a:r>
                      <a:r>
                        <a:rPr spc="-20"/>
                        <a:t> </a:t>
                      </a:r>
                      <a:r>
                        <a:t>SQL</a:t>
                      </a:r>
                      <a:r>
                        <a:rPr spc="-204"/>
                        <a:t> </a:t>
                      </a:r>
                      <a:r>
                        <a:rPr spc="-10"/>
                        <a:t>Alchemy,</a:t>
                      </a:r>
                    </a:p>
                    <a:p>
                      <a:pPr indent="73660" algn="l">
                        <a:lnSpc>
                          <a:spcPts val="2100"/>
                        </a:lnSpc>
                        <a:defRPr sz="1800"/>
                      </a:pPr>
                      <a:r>
                        <a:t>database</a:t>
                      </a:r>
                      <a:r>
                        <a:rPr spc="15"/>
                        <a:t> </a:t>
                      </a:r>
                      <a:r>
                        <a:t>schema,</a:t>
                      </a:r>
                      <a:r>
                        <a:rPr spc="-10"/>
                        <a:t> </a:t>
                      </a:r>
                      <a:r>
                        <a:t>data</a:t>
                      </a:r>
                      <a:r>
                        <a:rPr spc="-34"/>
                        <a:t> </a:t>
                      </a:r>
                      <a:r>
                        <a:t>modeling,</a:t>
                      </a:r>
                      <a:r>
                        <a:rPr spc="-5"/>
                        <a:t> </a:t>
                      </a:r>
                      <a:r>
                        <a:rPr spc="-10"/>
                        <a:t>query</a:t>
                      </a:r>
                    </a:p>
                    <a:p>
                      <a:pPr indent="73660" algn="l">
                        <a:lnSpc>
                          <a:spcPts val="2000"/>
                        </a:lnSpc>
                        <a:defRPr spc="-10" sz="1800"/>
                      </a:pPr>
                      <a:r>
                        <a:t>optimization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4EA"/>
                    </a:solidFill>
                  </a:tcPr>
                </a:tc>
              </a:tr>
              <a:tr h="1075608">
                <a:tc>
                  <a:txBody>
                    <a:bodyPr/>
                    <a:lstStyle/>
                    <a:p>
                      <a:pPr marR="306704">
                        <a:spcBef>
                          <a:spcPts val="100"/>
                        </a:spcBef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Member</a:t>
                      </a:r>
                      <a:r>
                        <a:rPr spc="-65"/>
                        <a:t> </a:t>
                      </a:r>
                      <a:r>
                        <a:rPr spc="-50"/>
                        <a:t>4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indent="69850" algn="l">
                        <a:defRPr sz="2000"/>
                      </a:pPr>
                      <a:r>
                        <a:t>Azeem</a:t>
                      </a:r>
                      <a:r>
                        <a:rPr spc="-50"/>
                        <a:t> 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461644" indent="73660" algn="l">
                        <a:lnSpc>
                          <a:spcPts val="2100"/>
                        </a:lnSpc>
                        <a:defRPr sz="1800"/>
                      </a:pPr>
                      <a:r>
                        <a:t>DevOps</a:t>
                      </a:r>
                      <a:r>
                        <a:rPr spc="10"/>
                        <a:t> </a:t>
                      </a:r>
                      <a:r>
                        <a:t>Engineer</a:t>
                      </a:r>
                      <a:r>
                        <a:rPr spc="-34"/>
                        <a:t> </a:t>
                      </a:r>
                      <a:r>
                        <a:t>&amp;</a:t>
                      </a:r>
                      <a:r>
                        <a:rPr spc="-10"/>
                        <a:t> Testing</a:t>
                      </a:r>
                      <a:r>
                        <a:rPr spc="-30"/>
                        <a:t> </a:t>
                      </a:r>
                      <a:r>
                        <a:t>Lead</a:t>
                      </a:r>
                      <a:r>
                        <a:rPr spc="-75"/>
                        <a:t> </a:t>
                      </a:r>
                      <a:r>
                        <a:rPr spc="-50"/>
                        <a:t>- </a:t>
                      </a:r>
                      <a:r>
                        <a:rPr spc="-10"/>
                        <a:t>Vercel/Railway</a:t>
                      </a:r>
                      <a:r>
                        <a:rPr spc="-65"/>
                        <a:t> </a:t>
                      </a:r>
                      <a:r>
                        <a:t>deployment,</a:t>
                      </a:r>
                      <a:r>
                        <a:rPr spc="-60"/>
                        <a:t> </a:t>
                      </a:r>
                      <a:r>
                        <a:rPr spc="-10"/>
                        <a:t>CI/CD, </a:t>
                      </a:r>
                      <a:r>
                        <a:t>testing,</a:t>
                      </a:r>
                      <a:r>
                        <a:rPr spc="10"/>
                        <a:t> </a:t>
                      </a:r>
                      <a:r>
                        <a:t>documentation,</a:t>
                      </a:r>
                      <a:r>
                        <a:rPr spc="10"/>
                        <a:t> </a:t>
                      </a:r>
                      <a:r>
                        <a:rPr spc="-10"/>
                        <a:t>security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pic>
        <p:nvPicPr>
          <p:cNvPr id="182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625" y="29510"/>
            <a:ext cx="2384425" cy="463821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object 12"/>
          <p:cNvSpPr txBox="1"/>
          <p:nvPr/>
        </p:nvSpPr>
        <p:spPr>
          <a:xfrm>
            <a:off x="4786376" y="6578111"/>
            <a:ext cx="26295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5425">
              <a:defRPr sz="900">
                <a:solidFill>
                  <a:srgbClr val="888888"/>
                </a:solidFill>
              </a:defRPr>
            </a:pPr>
            <a:r>
              <a:t>Final</a:t>
            </a:r>
            <a:r>
              <a:rPr spc="90"/>
              <a:t> </a:t>
            </a:r>
            <a:r>
              <a:t>Review,</a:t>
            </a:r>
            <a:r>
              <a:rPr spc="30"/>
              <a:t> </a:t>
            </a:r>
            <a:r>
              <a:t>CSD</a:t>
            </a:r>
            <a:r>
              <a:rPr spc="110"/>
              <a:t> </a:t>
            </a:r>
            <a:r>
              <a:t>334</a:t>
            </a:r>
            <a:r>
              <a:rPr spc="95"/>
              <a:t> </a:t>
            </a:r>
            <a:r>
              <a:t>-</a:t>
            </a:r>
            <a:r>
              <a:rPr spc="100"/>
              <a:t> </a:t>
            </a:r>
            <a:r>
              <a:t>MINI</a:t>
            </a:r>
            <a:r>
              <a:rPr spc="120"/>
              <a:t> </a:t>
            </a:r>
            <a:r>
              <a:rPr spc="-10"/>
              <a:t>PROJECT</a:t>
            </a:r>
          </a:p>
        </p:txBody>
      </p:sp>
      <p:sp>
        <p:nvSpPr>
          <p:cNvPr id="184" name="object 10"/>
          <p:cNvSpPr txBox="1"/>
          <p:nvPr/>
        </p:nvSpPr>
        <p:spPr>
          <a:xfrm>
            <a:off x="917575" y="6451048"/>
            <a:ext cx="777739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10" sz="1200">
                <a:solidFill>
                  <a:srgbClr val="888888"/>
                </a:solidFill>
              </a:defRPr>
            </a:lvl1pPr>
          </a:lstStyle>
          <a:p>
            <a:pPr/>
            <a:r>
              <a:t>06/04/2026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002060"/>
                </a:solidFill>
                <a:latin typeface="Sitka Small Semibold"/>
                <a:ea typeface="Sitka Small Semibold"/>
                <a:cs typeface="Sitka Small Semibold"/>
                <a:sym typeface="Sitka Small Semibold"/>
              </a:defRPr>
            </a:lvl1pPr>
          </a:lstStyle>
          <a:p>
            <a:pPr/>
            <a:r>
              <a:t>REFERENCE</a:t>
            </a:r>
          </a:p>
        </p:txBody>
      </p:sp>
      <p:sp>
        <p:nvSpPr>
          <p:cNvPr id="187" name="Slide Number Placeholder 5"/>
          <p:cNvSpPr txBox="1"/>
          <p:nvPr>
            <p:ph type="sldNum" sz="quarter" idx="2"/>
          </p:nvPr>
        </p:nvSpPr>
        <p:spPr>
          <a:xfrm>
            <a:off x="11102915" y="6401179"/>
            <a:ext cx="250886" cy="2754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8" name="图片" descr="图片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Content Placeholder 2"/>
          <p:cNvSpPr txBox="1"/>
          <p:nvPr>
            <p:ph type="body" idx="1"/>
          </p:nvPr>
        </p:nvSpPr>
        <p:spPr>
          <a:xfrm>
            <a:off x="617219" y="1734755"/>
            <a:ext cx="11058526" cy="3763011"/>
          </a:xfrm>
          <a:prstGeom prst="rect">
            <a:avLst/>
          </a:prstGeom>
        </p:spPr>
        <p:txBody>
          <a:bodyPr lIns="0" tIns="0" rIns="0" bIns="0"/>
          <a:lstStyle/>
          <a:p>
            <a:pPr marL="240665" marR="6985">
              <a:lnSpc>
                <a:spcPts val="1900"/>
              </a:lnSpc>
              <a:spcBef>
                <a:spcPts val="300"/>
              </a:spcBef>
              <a:tabLst>
                <a:tab pos="228600" algn="l"/>
              </a:tabLst>
              <a:defRPr sz="1800"/>
            </a:pPr>
            <a:r>
              <a:t>[1]</a:t>
            </a:r>
            <a:r>
              <a:rPr spc="100"/>
              <a:t> </a:t>
            </a:r>
            <a:r>
              <a:t>I.</a:t>
            </a:r>
            <a:r>
              <a:rPr spc="100"/>
              <a:t> </a:t>
            </a:r>
            <a:r>
              <a:t>Fette</a:t>
            </a:r>
            <a:r>
              <a:rPr spc="100"/>
              <a:t> </a:t>
            </a:r>
            <a:r>
              <a:t>and</a:t>
            </a:r>
            <a:r>
              <a:rPr spc="100"/>
              <a:t> </a:t>
            </a:r>
            <a:r>
              <a:t>A.</a:t>
            </a:r>
            <a:r>
              <a:rPr spc="100"/>
              <a:t> </a:t>
            </a:r>
            <a:r>
              <a:t>Melnikov,</a:t>
            </a:r>
            <a:r>
              <a:rPr spc="100"/>
              <a:t> </a:t>
            </a:r>
            <a:r>
              <a:t>"The</a:t>
            </a:r>
            <a:r>
              <a:rPr spc="100"/>
              <a:t> </a:t>
            </a:r>
            <a:r>
              <a:t>WebSocket</a:t>
            </a:r>
            <a:r>
              <a:rPr spc="100"/>
              <a:t> </a:t>
            </a:r>
            <a:r>
              <a:t>Protocol,"</a:t>
            </a:r>
            <a:r>
              <a:rPr spc="100"/>
              <a:t> </a:t>
            </a:r>
            <a:r>
              <a:t>RFC</a:t>
            </a:r>
            <a:r>
              <a:rPr spc="100"/>
              <a:t> </a:t>
            </a:r>
            <a:r>
              <a:t>6455,</a:t>
            </a:r>
            <a:r>
              <a:rPr spc="100"/>
              <a:t> </a:t>
            </a:r>
            <a:r>
              <a:t>Internet</a:t>
            </a:r>
            <a:r>
              <a:rPr spc="100"/>
              <a:t> </a:t>
            </a:r>
            <a:r>
              <a:t>Engineering</a:t>
            </a:r>
            <a:r>
              <a:rPr spc="100"/>
              <a:t> </a:t>
            </a:r>
            <a:r>
              <a:t>Task</a:t>
            </a:r>
            <a:r>
              <a:rPr spc="100"/>
              <a:t> </a:t>
            </a:r>
            <a:r>
              <a:t>Force,</a:t>
            </a:r>
            <a:r>
              <a:rPr spc="100"/>
              <a:t> </a:t>
            </a:r>
            <a:r>
              <a:t>Dec.</a:t>
            </a:r>
            <a:r>
              <a:rPr spc="100"/>
              <a:t> </a:t>
            </a:r>
            <a:r>
              <a:rPr spc="-100"/>
              <a:t>2011. [Online].</a:t>
            </a:r>
            <a:r>
              <a:rPr spc="-200"/>
              <a:t> </a:t>
            </a:r>
            <a:r>
              <a:rPr spc="-100"/>
              <a:t>Available:</a:t>
            </a:r>
            <a:r>
              <a:t> 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 invalidUrl="" action="" tgtFrame="" tooltip="" history="1" highlightClick="0" endSnd="0"/>
              </a:rPr>
              <a:t>https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 invalidUrl="" action="" tgtFrame="" tooltip="" history="1" highlightClick="0" endSnd="0"/>
              </a:rPr>
              <a:t>: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 invalidUrl="" action="" tgtFrame="" tooltip="" history="1" highlightClick="0" endSnd="0"/>
              </a:rPr>
              <a:t>//tools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 invalidUrl="" action="" tgtFrame="" tooltip="" history="1" highlightClick="0" endSnd="0"/>
              </a:rPr>
              <a:t>.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 invalidUrl="" action="" tgtFrame="" tooltip="" history="1" highlightClick="0" endSnd="0"/>
              </a:rPr>
              <a:t>ietf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 invalidUrl="" action="" tgtFrame="" tooltip="" history="1" highlightClick="0" endSnd="0"/>
              </a:rPr>
              <a:t>.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 invalidUrl="" action="" tgtFrame="" tooltip="" history="1" highlightClick="0" endSnd="0"/>
              </a:rPr>
              <a:t>org/html/rfc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 invalidUrl="" action="" tgtFrame="" tooltip="" history="1" highlightClick="0" endSnd="0"/>
              </a:rPr>
              <a:t>6455</a:t>
            </a:r>
          </a:p>
          <a:p>
            <a:pPr marL="240665" marR="5080">
              <a:lnSpc>
                <a:spcPts val="1900"/>
              </a:lnSpc>
              <a:spcBef>
                <a:spcPts val="0"/>
              </a:spcBef>
              <a:tabLst>
                <a:tab pos="228600" algn="l"/>
              </a:tabLst>
              <a:defRPr sz="1800"/>
            </a:pPr>
            <a:r>
              <a:t>[2] M. Jones, J. Bradley, and N. Sakimura, "JSON Web Token (JWT)," RFC 7519, Internet Engineering Task </a:t>
            </a:r>
            <a:r>
              <a:rPr spc="-100"/>
              <a:t>Force, </a:t>
            </a:r>
            <a:r>
              <a:t>May</a:t>
            </a:r>
            <a:r>
              <a:rPr spc="-100"/>
              <a:t> </a:t>
            </a:r>
            <a:r>
              <a:t>2015. </a:t>
            </a:r>
            <a:r>
              <a:rPr spc="-100"/>
              <a:t>[Online].</a:t>
            </a:r>
            <a:r>
              <a:rPr spc="-200"/>
              <a:t> </a:t>
            </a:r>
            <a:r>
              <a:rPr spc="-100"/>
              <a:t>Available: 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4" invalidUrl="" action="" tgtFrame="" tooltip="" history="1" highlightClick="0" endSnd="0"/>
              </a:rPr>
              <a:t>https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4" invalidUrl="" action="" tgtFrame="" tooltip="" history="1" highlightClick="0" endSnd="0"/>
              </a:rPr>
              <a:t>: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4" invalidUrl="" action="" tgtFrame="" tooltip="" history="1" highlightClick="0" endSnd="0"/>
              </a:rPr>
              <a:t>//tools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4" invalidUrl="" action="" tgtFrame="" tooltip="" history="1" highlightClick="0" endSnd="0"/>
              </a:rPr>
              <a:t>.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4" invalidUrl="" action="" tgtFrame="" tooltip="" history="1" highlightClick="0" endSnd="0"/>
              </a:rPr>
              <a:t>ietf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4" invalidUrl="" action="" tgtFrame="" tooltip="" history="1" highlightClick="0" endSnd="0"/>
              </a:rPr>
              <a:t>.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4" invalidUrl="" action="" tgtFrame="" tooltip="" history="1" highlightClick="0" endSnd="0"/>
              </a:rPr>
              <a:t>org/html/rfc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4" invalidUrl="" action="" tgtFrame="" tooltip="" history="1" highlightClick="0" endSnd="0"/>
              </a:rPr>
              <a:t>7519</a:t>
            </a:r>
          </a:p>
          <a:p>
            <a:pPr marL="240665" indent="-227965">
              <a:lnSpc>
                <a:spcPts val="1800"/>
              </a:lnSpc>
              <a:spcBef>
                <a:spcPts val="0"/>
              </a:spcBef>
              <a:tabLst>
                <a:tab pos="228600" algn="l"/>
              </a:tabLst>
              <a:defRPr sz="1800"/>
            </a:pPr>
            <a:r>
              <a:t>•[3]</a:t>
            </a:r>
            <a:r>
              <a:rPr spc="-100"/>
              <a:t> </a:t>
            </a:r>
            <a:r>
              <a:t>C.</a:t>
            </a:r>
            <a:r>
              <a:rPr spc="-100"/>
              <a:t> </a:t>
            </a:r>
            <a:r>
              <a:t>Richardson, Microservices</a:t>
            </a:r>
            <a:r>
              <a:rPr spc="-100"/>
              <a:t> </a:t>
            </a:r>
            <a:r>
              <a:t>Patterns:</a:t>
            </a:r>
            <a:r>
              <a:rPr spc="-100"/>
              <a:t> </a:t>
            </a:r>
            <a:r>
              <a:t>With</a:t>
            </a:r>
            <a:r>
              <a:rPr spc="-100"/>
              <a:t> </a:t>
            </a:r>
            <a:r>
              <a:t>Examples</a:t>
            </a:r>
            <a:r>
              <a:rPr spc="-100"/>
              <a:t> </a:t>
            </a:r>
            <a:r>
              <a:t>in</a:t>
            </a:r>
            <a:r>
              <a:rPr spc="-100"/>
              <a:t> </a:t>
            </a:r>
            <a:r>
              <a:t>Java.</a:t>
            </a:r>
            <a:r>
              <a:rPr spc="-100"/>
              <a:t> </a:t>
            </a:r>
            <a:r>
              <a:t>Shelter</a:t>
            </a:r>
            <a:r>
              <a:rPr spc="-100"/>
              <a:t> </a:t>
            </a:r>
            <a:r>
              <a:t>Island,</a:t>
            </a:r>
            <a:r>
              <a:rPr spc="-100"/>
              <a:t> NY: </a:t>
            </a:r>
            <a:r>
              <a:t>Manning</a:t>
            </a:r>
            <a:r>
              <a:rPr spc="-100"/>
              <a:t> </a:t>
            </a:r>
            <a:r>
              <a:t>Publications,</a:t>
            </a:r>
            <a:r>
              <a:rPr spc="-100"/>
              <a:t> 2018.</a:t>
            </a:r>
            <a:endParaRPr spc="-100"/>
          </a:p>
          <a:p>
            <a:pPr marL="240665" marR="11429">
              <a:lnSpc>
                <a:spcPts val="1900"/>
              </a:lnSpc>
              <a:spcBef>
                <a:spcPts val="100"/>
              </a:spcBef>
              <a:tabLst>
                <a:tab pos="228600" algn="l"/>
              </a:tabLst>
              <a:defRPr sz="1800"/>
            </a:pPr>
            <a:r>
              <a:t>[4] B. Ur, </a:t>
            </a:r>
            <a:r>
              <a:rPr spc="-100"/>
              <a:t>P.</a:t>
            </a:r>
            <a:r>
              <a:t> G. Kelley, S. Komanduri, et</a:t>
            </a:r>
            <a:r>
              <a:rPr spc="-100"/>
              <a:t> </a:t>
            </a:r>
            <a:r>
              <a:t>al., "How Does </a:t>
            </a:r>
            <a:r>
              <a:rPr spc="-100"/>
              <a:t>Your</a:t>
            </a:r>
            <a:r>
              <a:t> Password Measure Up? The</a:t>
            </a:r>
            <a:r>
              <a:rPr spc="-100"/>
              <a:t> </a:t>
            </a:r>
            <a:r>
              <a:t>Effect</a:t>
            </a:r>
            <a:r>
              <a:rPr spc="-100"/>
              <a:t> </a:t>
            </a:r>
            <a:r>
              <a:t>of Strength </a:t>
            </a:r>
            <a:r>
              <a:rPr spc="-100"/>
              <a:t>Meters </a:t>
            </a:r>
            <a:r>
              <a:t>on</a:t>
            </a:r>
            <a:r>
              <a:rPr spc="-100"/>
              <a:t> </a:t>
            </a:r>
            <a:r>
              <a:t>Password</a:t>
            </a:r>
            <a:r>
              <a:rPr spc="-100"/>
              <a:t> </a:t>
            </a:r>
            <a:r>
              <a:t>Creation,"</a:t>
            </a:r>
            <a:r>
              <a:rPr spc="-100"/>
              <a:t> </a:t>
            </a:r>
            <a:r>
              <a:t>in</a:t>
            </a:r>
            <a:r>
              <a:rPr spc="-100"/>
              <a:t> </a:t>
            </a:r>
            <a:r>
              <a:t>Proc.</a:t>
            </a:r>
            <a:r>
              <a:rPr spc="-100"/>
              <a:t> </a:t>
            </a:r>
            <a:r>
              <a:t>24th</a:t>
            </a:r>
            <a:r>
              <a:rPr spc="-100"/>
              <a:t> </a:t>
            </a:r>
            <a:r>
              <a:t>USENIX</a:t>
            </a:r>
            <a:r>
              <a:rPr spc="-100"/>
              <a:t> </a:t>
            </a:r>
            <a:r>
              <a:t>Security</a:t>
            </a:r>
            <a:r>
              <a:rPr spc="-100"/>
              <a:t> </a:t>
            </a:r>
            <a:r>
              <a:t>Symposium,</a:t>
            </a:r>
            <a:r>
              <a:rPr spc="-100"/>
              <a:t> Washington,</a:t>
            </a:r>
            <a:r>
              <a:t> DC, USA,</a:t>
            </a:r>
            <a:r>
              <a:rPr spc="-200"/>
              <a:t> </a:t>
            </a:r>
            <a:r>
              <a:t>Aug.</a:t>
            </a:r>
            <a:r>
              <a:rPr spc="-100"/>
              <a:t> </a:t>
            </a:r>
            <a:r>
              <a:t>2015,</a:t>
            </a:r>
            <a:r>
              <a:rPr spc="-100"/>
              <a:t> </a:t>
            </a:r>
            <a:r>
              <a:t>pp.</a:t>
            </a:r>
            <a:r>
              <a:rPr spc="-100"/>
              <a:t> 65-80</a:t>
            </a:r>
            <a:endParaRPr spc="-100"/>
          </a:p>
          <a:p>
            <a:pPr marL="240665" indent="-227965">
              <a:lnSpc>
                <a:spcPts val="1800"/>
              </a:lnSpc>
              <a:spcBef>
                <a:spcPts val="0"/>
              </a:spcBef>
              <a:tabLst>
                <a:tab pos="228600" algn="l"/>
              </a:tabLst>
              <a:defRPr sz="1800"/>
            </a:pPr>
            <a:r>
              <a:t>[5]</a:t>
            </a:r>
            <a:r>
              <a:rPr spc="-100"/>
              <a:t> </a:t>
            </a:r>
            <a:r>
              <a:t>"Next.js</a:t>
            </a:r>
            <a:r>
              <a:rPr spc="-100"/>
              <a:t> </a:t>
            </a:r>
            <a:r>
              <a:t>Documentation,"</a:t>
            </a:r>
            <a:r>
              <a:rPr spc="-100"/>
              <a:t> Vercel </a:t>
            </a:r>
            <a:r>
              <a:t>Inc.,</a:t>
            </a:r>
            <a:r>
              <a:rPr spc="-100"/>
              <a:t> </a:t>
            </a:r>
            <a:r>
              <a:t>2024.</a:t>
            </a:r>
            <a:r>
              <a:rPr spc="-100"/>
              <a:t> [Online].</a:t>
            </a:r>
            <a:r>
              <a:rPr spc="-200"/>
              <a:t> </a:t>
            </a:r>
            <a:r>
              <a:rPr spc="-100"/>
              <a:t>Available: 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5" invalidUrl="" action="" tgtFrame="" tooltip="" history="1" highlightClick="0" endSnd="0"/>
              </a:rPr>
              <a:t>https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5" invalidUrl="" action="" tgtFrame="" tooltip="" history="1" highlightClick="0" endSnd="0"/>
              </a:rPr>
              <a:t>: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5" invalidUrl="" action="" tgtFrame="" tooltip="" history="1" highlightClick="0" endSnd="0"/>
              </a:rPr>
              <a:t>//nextjs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5" invalidUrl="" action="" tgtFrame="" tooltip="" history="1" highlightClick="0" endSnd="0"/>
              </a:rPr>
              <a:t>.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5" invalidUrl="" action="" tgtFrame="" tooltip="" history="1" highlightClick="0" endSnd="0"/>
              </a:rPr>
              <a:t>org/docs</a:t>
            </a:r>
          </a:p>
          <a:p>
            <a:pPr marL="240665" indent="-227965">
              <a:lnSpc>
                <a:spcPts val="1900"/>
              </a:lnSpc>
              <a:spcBef>
                <a:spcPts val="0"/>
              </a:spcBef>
              <a:tabLst>
                <a:tab pos="228600" algn="l"/>
              </a:tabLst>
              <a:defRPr sz="1800"/>
            </a:pPr>
            <a:r>
              <a:t>[6]</a:t>
            </a:r>
            <a:r>
              <a:rPr spc="-100"/>
              <a:t> </a:t>
            </a:r>
            <a:r>
              <a:t>S.</a:t>
            </a:r>
            <a:r>
              <a:rPr spc="-100"/>
              <a:t> </a:t>
            </a:r>
            <a:r>
              <a:t>Ramirez, "FastAPI</a:t>
            </a:r>
            <a:r>
              <a:rPr spc="-100"/>
              <a:t> </a:t>
            </a:r>
            <a:r>
              <a:t>Framework,"</a:t>
            </a:r>
            <a:r>
              <a:rPr spc="-100"/>
              <a:t> </a:t>
            </a:r>
            <a:r>
              <a:t>2024.</a:t>
            </a:r>
            <a:r>
              <a:rPr spc="-100"/>
              <a:t> [Online].</a:t>
            </a:r>
            <a:r>
              <a:rPr spc="-200"/>
              <a:t> </a:t>
            </a:r>
            <a:r>
              <a:rPr spc="-100"/>
              <a:t>Available: 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6" invalidUrl="" action="" tgtFrame="" tooltip="" history="1" highlightClick="0" endSnd="0"/>
              </a:rPr>
              <a:t>https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6" invalidUrl="" action="" tgtFrame="" tooltip="" history="1" highlightClick="0" endSnd="0"/>
              </a:rPr>
              <a:t>: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6" invalidUrl="" action="" tgtFrame="" tooltip="" history="1" highlightClick="0" endSnd="0"/>
              </a:rPr>
              <a:t>//fastapi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6" invalidUrl="" action="" tgtFrame="" tooltip="" history="1" highlightClick="0" endSnd="0"/>
              </a:rPr>
              <a:t>.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6" invalidUrl="" action="" tgtFrame="" tooltip="" history="1" highlightClick="0" endSnd="0"/>
              </a:rPr>
              <a:t>tiangolo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6" invalidUrl="" action="" tgtFrame="" tooltip="" history="1" highlightClick="0" endSnd="0"/>
              </a:rPr>
              <a:t>.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6" invalidUrl="" action="" tgtFrame="" tooltip="" history="1" highlightClick="0" endSnd="0"/>
              </a:rPr>
              <a:t>com</a:t>
            </a:r>
          </a:p>
          <a:p>
            <a:pPr marL="240665" marR="6985">
              <a:lnSpc>
                <a:spcPts val="1800"/>
              </a:lnSpc>
              <a:spcBef>
                <a:spcPts val="100"/>
              </a:spcBef>
              <a:tabLst>
                <a:tab pos="228600" algn="l"/>
                <a:tab pos="660400" algn="l"/>
                <a:tab pos="1028700" algn="l"/>
                <a:tab pos="1828800" algn="l"/>
                <a:tab pos="3060700" algn="l"/>
                <a:tab pos="4114800" algn="l"/>
                <a:tab pos="5346700" algn="l"/>
                <a:tab pos="6705600" algn="l"/>
                <a:tab pos="7886700" algn="l"/>
                <a:tab pos="8445500" algn="l"/>
                <a:tab pos="9118600" algn="l"/>
                <a:tab pos="10096500" algn="l"/>
              </a:tabLst>
              <a:defRPr spc="-100" sz="1800"/>
            </a:pPr>
            <a:r>
              <a:t>[7]</a:t>
            </a:r>
            <a:r>
              <a:rPr spc="0"/>
              <a:t>	</a:t>
            </a:r>
            <a:r>
              <a:t>G.</a:t>
            </a:r>
            <a:r>
              <a:rPr spc="0"/>
              <a:t>	</a:t>
            </a:r>
            <a:r>
              <a:t>Rauch,</a:t>
            </a:r>
            <a:r>
              <a:rPr spc="0"/>
              <a:t>	</a:t>
            </a:r>
            <a:r>
              <a:t>"Socket.IO:</a:t>
            </a:r>
            <a:r>
              <a:rPr spc="0"/>
              <a:t>	</a:t>
            </a:r>
            <a:r>
              <a:t>Real-time</a:t>
            </a:r>
            <a:r>
              <a:rPr spc="0"/>
              <a:t>	</a:t>
            </a:r>
            <a:r>
              <a:t>Application</a:t>
            </a:r>
            <a:r>
              <a:rPr spc="0"/>
              <a:t>	</a:t>
            </a:r>
            <a:r>
              <a:t>Framework,"</a:t>
            </a:r>
            <a:r>
              <a:rPr spc="0"/>
              <a:t>	</a:t>
            </a:r>
            <a:r>
              <a:t>Automattic</a:t>
            </a:r>
            <a:r>
              <a:rPr spc="0"/>
              <a:t>	</a:t>
            </a:r>
            <a:r>
              <a:t>Inc.,</a:t>
            </a:r>
            <a:r>
              <a:rPr spc="0"/>
              <a:t>	</a:t>
            </a:r>
            <a:r>
              <a:t>2024.</a:t>
            </a:r>
            <a:r>
              <a:rPr spc="0"/>
              <a:t>	</a:t>
            </a:r>
            <a:r>
              <a:t>[Online].</a:t>
            </a:r>
            <a:r>
              <a:rPr spc="0"/>
              <a:t>	</a:t>
            </a:r>
            <a:r>
              <a:t>Available: 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7" invalidUrl="" action="" tgtFrame="" tooltip="" history="1" highlightClick="0" endSnd="0"/>
              </a:rPr>
              <a:t>https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7" invalidUrl="" action="" tgtFrame="" tooltip="" history="1" highlightClick="0" endSnd="0"/>
              </a:rPr>
              <a:t>: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7" invalidUrl="" action="" tgtFrame="" tooltip="" history="1" highlightClick="0" endSnd="0"/>
              </a:rPr>
              <a:t>//socket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7" invalidUrl="" action="" tgtFrame="" tooltip="" history="1" highlightClick="0" endSnd="0"/>
              </a:rPr>
              <a:t>.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7" invalidUrl="" action="" tgtFrame="" tooltip="" history="1" highlightClick="0" endSnd="0"/>
              </a:rPr>
              <a:t>io/docs</a:t>
            </a:r>
          </a:p>
          <a:p>
            <a:pPr marL="240665" marR="6985">
              <a:lnSpc>
                <a:spcPts val="1900"/>
              </a:lnSpc>
              <a:spcBef>
                <a:spcPts val="0"/>
              </a:spcBef>
              <a:tabLst>
                <a:tab pos="228600" algn="l"/>
                <a:tab pos="660400" algn="l"/>
                <a:tab pos="1943100" algn="l"/>
                <a:tab pos="2730500" algn="l"/>
                <a:tab pos="4127500" algn="l"/>
                <a:tab pos="4940300" algn="l"/>
                <a:tab pos="6299200" algn="l"/>
                <a:tab pos="6692900" algn="l"/>
                <a:tab pos="8420100" algn="l"/>
                <a:tab pos="9105900" algn="l"/>
                <a:tab pos="10096500" algn="l"/>
              </a:tabLst>
              <a:defRPr spc="-100" sz="1800"/>
            </a:pPr>
            <a:r>
              <a:t>[8]</a:t>
            </a:r>
            <a:r>
              <a:rPr spc="0"/>
              <a:t>	</a:t>
            </a:r>
            <a:r>
              <a:t>PostgreSQL</a:t>
            </a:r>
            <a:r>
              <a:rPr spc="0"/>
              <a:t>	</a:t>
            </a:r>
            <a:r>
              <a:t>Global</a:t>
            </a:r>
            <a:r>
              <a:rPr spc="0"/>
              <a:t>	</a:t>
            </a:r>
            <a:r>
              <a:t>Development</a:t>
            </a:r>
            <a:r>
              <a:rPr spc="0"/>
              <a:t>	</a:t>
            </a:r>
            <a:r>
              <a:t>Group,</a:t>
            </a:r>
            <a:r>
              <a:rPr spc="0"/>
              <a:t>	</a:t>
            </a:r>
            <a:r>
              <a:t>"PostgreSQL</a:t>
            </a:r>
            <a:r>
              <a:rPr spc="0"/>
              <a:t>	</a:t>
            </a:r>
            <a:r>
              <a:t>15</a:t>
            </a:r>
            <a:r>
              <a:rPr spc="0"/>
              <a:t>	</a:t>
            </a:r>
            <a:r>
              <a:t>Documentation,"</a:t>
            </a:r>
            <a:r>
              <a:rPr spc="0"/>
              <a:t>	</a:t>
            </a:r>
            <a:r>
              <a:t>2024.</a:t>
            </a:r>
            <a:r>
              <a:rPr spc="0"/>
              <a:t>	</a:t>
            </a:r>
            <a:r>
              <a:t>[Online].</a:t>
            </a:r>
            <a:r>
              <a:rPr spc="0"/>
              <a:t>	</a:t>
            </a:r>
            <a:r>
              <a:t>Available: 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8" invalidUrl="" action="" tgtFrame="" tooltip="" history="1" highlightClick="0" endSnd="0"/>
              </a:rPr>
              <a:t>https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8" invalidUrl="" action="" tgtFrame="" tooltip="" history="1" highlightClick="0" endSnd="0"/>
              </a:rPr>
              <a:t>: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8" invalidUrl="" action="" tgtFrame="" tooltip="" history="1" highlightClick="0" endSnd="0"/>
              </a:rPr>
              <a:t>//www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8" invalidUrl="" action="" tgtFrame="" tooltip="" history="1" highlightClick="0" endSnd="0"/>
              </a:rPr>
              <a:t>.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8" invalidUrl="" action="" tgtFrame="" tooltip="" history="1" highlightClick="0" endSnd="0"/>
              </a:rPr>
              <a:t>postgresql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8" invalidUrl="" action="" tgtFrame="" tooltip="" history="1" highlightClick="0" endSnd="0"/>
              </a:rPr>
              <a:t>.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8" invalidUrl="" action="" tgtFrame="" tooltip="" history="1" highlightClick="0" endSnd="0"/>
              </a:rPr>
              <a:t>org/docs/</a:t>
            </a:r>
            <a:r>
              <a:rPr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8" invalidUrl="" action="" tgtFrame="" tooltip="" history="1" highlightClick="0" endSnd="0"/>
              </a:rPr>
              <a:t>15</a:t>
            </a:r>
          </a:p>
          <a:p>
            <a:pPr marL="240665" indent="-227965">
              <a:lnSpc>
                <a:spcPts val="1800"/>
              </a:lnSpc>
              <a:spcBef>
                <a:spcPts val="0"/>
              </a:spcBef>
              <a:tabLst>
                <a:tab pos="228600" algn="l"/>
              </a:tabLst>
              <a:defRPr sz="1800"/>
            </a:pPr>
            <a:r>
              <a:t>[9]</a:t>
            </a:r>
            <a:r>
              <a:rPr spc="-100"/>
              <a:t> "Vercel </a:t>
            </a:r>
            <a:r>
              <a:t>Platform Documentation,"</a:t>
            </a:r>
            <a:r>
              <a:rPr spc="-100"/>
              <a:t> Vercel </a:t>
            </a:r>
            <a:r>
              <a:t>Inc.,</a:t>
            </a:r>
            <a:r>
              <a:rPr spc="-100"/>
              <a:t> </a:t>
            </a:r>
            <a:r>
              <a:t>2024.</a:t>
            </a:r>
            <a:r>
              <a:rPr spc="-100"/>
              <a:t> [Online].</a:t>
            </a:r>
            <a:r>
              <a:rPr spc="-200"/>
              <a:t> </a:t>
            </a:r>
            <a:r>
              <a:rPr spc="-100"/>
              <a:t>Available: 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9" invalidUrl="" action="" tgtFrame="" tooltip="" history="1" highlightClick="0" endSnd="0"/>
              </a:rPr>
              <a:t>https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9" invalidUrl="" action="" tgtFrame="" tooltip="" history="1" highlightClick="0" endSnd="0"/>
              </a:rPr>
              <a:t>: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9" invalidUrl="" action="" tgtFrame="" tooltip="" history="1" highlightClick="0" endSnd="0"/>
              </a:rPr>
              <a:t>//vercel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9" invalidUrl="" action="" tgtFrame="" tooltip="" history="1" highlightClick="0" endSnd="0"/>
              </a:rPr>
              <a:t>.</a:t>
            </a:r>
            <a:r>
              <a:rPr spc="-1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9" invalidUrl="" action="" tgtFrame="" tooltip="" history="1" highlightClick="0" endSnd="0"/>
              </a:rPr>
              <a:t>com/docs</a:t>
            </a:r>
          </a:p>
          <a:p>
            <a:pPr marL="240665" indent="-227965">
              <a:lnSpc>
                <a:spcPts val="2000"/>
              </a:lnSpc>
              <a:spcBef>
                <a:spcPts val="0"/>
              </a:spcBef>
              <a:tabLst>
                <a:tab pos="228600" algn="l"/>
              </a:tabLst>
              <a:defRPr sz="1800"/>
            </a:pPr>
            <a:r>
              <a:t>[10]</a:t>
            </a:r>
            <a:r>
              <a:rPr spc="-100"/>
              <a:t> </a:t>
            </a:r>
            <a:r>
              <a:t>"Railway</a:t>
            </a:r>
            <a:r>
              <a:rPr spc="-100"/>
              <a:t> </a:t>
            </a:r>
            <a:r>
              <a:t>Platform Documentation," Railway</a:t>
            </a:r>
            <a:r>
              <a:rPr spc="-100"/>
              <a:t> </a:t>
            </a:r>
            <a:r>
              <a:t>Corp.,</a:t>
            </a:r>
            <a:r>
              <a:rPr spc="-100"/>
              <a:t> </a:t>
            </a:r>
            <a:r>
              <a:t>2024.</a:t>
            </a:r>
            <a:r>
              <a:rPr spc="-100"/>
              <a:t> [Online]. Available: https://docs.railway.app</a:t>
            </a:r>
          </a:p>
        </p:txBody>
      </p:sp>
      <p:pic>
        <p:nvPicPr>
          <p:cNvPr id="190" name="object 5" descr="object 5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47625" y="29510"/>
            <a:ext cx="2384425" cy="463821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object 12"/>
          <p:cNvSpPr txBox="1"/>
          <p:nvPr/>
        </p:nvSpPr>
        <p:spPr>
          <a:xfrm>
            <a:off x="4786376" y="6578111"/>
            <a:ext cx="26295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5425">
              <a:defRPr sz="900">
                <a:solidFill>
                  <a:srgbClr val="888888"/>
                </a:solidFill>
              </a:defRPr>
            </a:pPr>
            <a:r>
              <a:t>Final</a:t>
            </a:r>
            <a:r>
              <a:rPr spc="90"/>
              <a:t> </a:t>
            </a:r>
            <a:r>
              <a:t>Review,</a:t>
            </a:r>
            <a:r>
              <a:rPr spc="30"/>
              <a:t> </a:t>
            </a:r>
            <a:r>
              <a:t>CSD</a:t>
            </a:r>
            <a:r>
              <a:rPr spc="110"/>
              <a:t> </a:t>
            </a:r>
            <a:r>
              <a:t>334</a:t>
            </a:r>
            <a:r>
              <a:rPr spc="95"/>
              <a:t> </a:t>
            </a:r>
            <a:r>
              <a:t>-</a:t>
            </a:r>
            <a:r>
              <a:rPr spc="100"/>
              <a:t> </a:t>
            </a:r>
            <a:r>
              <a:t>MINI</a:t>
            </a:r>
            <a:r>
              <a:rPr spc="120"/>
              <a:t> </a:t>
            </a:r>
            <a:r>
              <a:rPr spc="-10"/>
              <a:t>PROJECT</a:t>
            </a:r>
          </a:p>
        </p:txBody>
      </p:sp>
      <p:sp>
        <p:nvSpPr>
          <p:cNvPr id="192" name="object 10"/>
          <p:cNvSpPr txBox="1"/>
          <p:nvPr/>
        </p:nvSpPr>
        <p:spPr>
          <a:xfrm>
            <a:off x="917575" y="6451048"/>
            <a:ext cx="777739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10" sz="1200">
                <a:solidFill>
                  <a:srgbClr val="888888"/>
                </a:solidFill>
              </a:defRPr>
            </a:lvl1pPr>
          </a:lstStyle>
          <a:p>
            <a:pPr/>
            <a:r>
              <a:t>06/04/2026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ontent Placeholder 2"/>
          <p:cNvSpPr txBox="1"/>
          <p:nvPr>
            <p:ph type="body" idx="1"/>
          </p:nvPr>
        </p:nvSpPr>
        <p:spPr>
          <a:xfrm>
            <a:off x="838200" y="1400752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3600">
                <a:solidFill>
                  <a:srgbClr val="002060"/>
                </a:solidFill>
              </a:defRPr>
            </a:pPr>
          </a:p>
          <a:p>
            <a:pPr marL="0" indent="0" algn="ctr">
              <a:buSzTx/>
              <a:buNone/>
              <a:defRPr sz="3600">
                <a:solidFill>
                  <a:srgbClr val="002060"/>
                </a:solidFill>
              </a:defRPr>
            </a:pPr>
          </a:p>
          <a:p>
            <a:pPr marL="0" indent="0" algn="ctr">
              <a:buSzTx/>
              <a:buNone/>
              <a:defRPr sz="3600">
                <a:solidFill>
                  <a:srgbClr val="002060"/>
                </a:solidFill>
              </a:defRPr>
            </a:pPr>
          </a:p>
          <a:p>
            <a:pPr marL="0" indent="0" algn="ctr">
              <a:buSzTx/>
              <a:buNone/>
              <a:defRPr sz="6000">
                <a:solidFill>
                  <a:srgbClr val="002060"/>
                </a:solidFill>
                <a:latin typeface="Sitka Small Semibold"/>
                <a:ea typeface="Sitka Small Semibold"/>
                <a:cs typeface="Sitka Small Semibold"/>
                <a:sym typeface="Sitka Small Semibold"/>
              </a:defRPr>
            </a:pPr>
            <a:r>
              <a:t>Thank you </a:t>
            </a:r>
          </a:p>
        </p:txBody>
      </p:sp>
      <p:sp>
        <p:nvSpPr>
          <p:cNvPr id="195" name="Slide Number Placeholder 5"/>
          <p:cNvSpPr txBox="1"/>
          <p:nvPr>
            <p:ph type="sldNum" sz="quarter" idx="2"/>
          </p:nvPr>
        </p:nvSpPr>
        <p:spPr>
          <a:xfrm>
            <a:off x="11097260" y="6401179"/>
            <a:ext cx="256540" cy="2754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6" name="object 10"/>
          <p:cNvSpPr txBox="1"/>
          <p:nvPr/>
        </p:nvSpPr>
        <p:spPr>
          <a:xfrm>
            <a:off x="917575" y="6451048"/>
            <a:ext cx="777739" cy="17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pc="-10" sz="1200">
                <a:solidFill>
                  <a:srgbClr val="888888"/>
                </a:solidFill>
              </a:defRPr>
            </a:lvl1pPr>
          </a:lstStyle>
          <a:p>
            <a:pPr/>
            <a:r>
              <a:t>06/04/2026</a:t>
            </a:r>
          </a:p>
        </p:txBody>
      </p:sp>
      <p:sp>
        <p:nvSpPr>
          <p:cNvPr id="197" name="object 12"/>
          <p:cNvSpPr txBox="1"/>
          <p:nvPr/>
        </p:nvSpPr>
        <p:spPr>
          <a:xfrm>
            <a:off x="4786376" y="6578111"/>
            <a:ext cx="26295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5425">
              <a:defRPr sz="900">
                <a:solidFill>
                  <a:srgbClr val="888888"/>
                </a:solidFill>
              </a:defRPr>
            </a:pPr>
            <a:r>
              <a:t>Final</a:t>
            </a:r>
            <a:r>
              <a:rPr spc="90"/>
              <a:t> </a:t>
            </a:r>
            <a:r>
              <a:t>Review,</a:t>
            </a:r>
            <a:r>
              <a:rPr spc="30"/>
              <a:t> </a:t>
            </a:r>
            <a:r>
              <a:t>CSD</a:t>
            </a:r>
            <a:r>
              <a:rPr spc="110"/>
              <a:t> </a:t>
            </a:r>
            <a:r>
              <a:t>334</a:t>
            </a:r>
            <a:r>
              <a:rPr spc="95"/>
              <a:t> </a:t>
            </a:r>
            <a:r>
              <a:t>-</a:t>
            </a:r>
            <a:r>
              <a:rPr spc="100"/>
              <a:t> </a:t>
            </a:r>
            <a:r>
              <a:t>MINI</a:t>
            </a:r>
            <a:r>
              <a:rPr spc="120"/>
              <a:t> </a:t>
            </a:r>
            <a:r>
              <a:rPr spc="-10"/>
              <a:t>PROJECT</a:t>
            </a:r>
          </a:p>
        </p:txBody>
      </p:sp>
      <p:pic>
        <p:nvPicPr>
          <p:cNvPr id="198" name="object 5" descr="object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625" y="29510"/>
            <a:ext cx="2384425" cy="4638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图片" descr="图片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127226" y="0"/>
            <a:ext cx="1989212" cy="3691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